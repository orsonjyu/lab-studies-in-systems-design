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75" r:id="rId13"/>
    <p:sldId id="274" r:id="rId14"/>
    <p:sldId id="273" r:id="rId15"/>
    <p:sldId id="272" r:id="rId16"/>
    <p:sldId id="267" r:id="rId17"/>
    <p:sldId id="268" r:id="rId18"/>
    <p:sldId id="269" r:id="rId19"/>
    <p:sldId id="270" r:id="rId20"/>
    <p:sldId id="271" r:id="rId21"/>
    <p:sldId id="276" r:id="rId22"/>
    <p:sldId id="277" r:id="rId23"/>
    <p:sldId id="278" r:id="rId24"/>
    <p:sldId id="279" r:id="rId25"/>
    <p:sldId id="280" r:id="rId26"/>
    <p:sldId id="281" r:id="rId27"/>
    <p:sldId id="282"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u8KTvq1ry299COuqRDZbzzgQro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F3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03555B-6AFD-4B4B-9EC0-19226ED46D85}">
  <a:tblStyle styleId="{5703555B-6AFD-4B4B-9EC0-19226ED46D8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51"/>
    <p:restoredTop sz="94604"/>
  </p:normalViewPr>
  <p:slideViewPr>
    <p:cSldViewPr snapToGrid="0">
      <p:cViewPr varScale="1">
        <p:scale>
          <a:sx n="151" d="100"/>
          <a:sy n="151" d="100"/>
        </p:scale>
        <p:origin x="2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 name="Google Shape;13;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a:t>Our proposed system connects sustained observation with learning about individual leopard geckos. This draft contains section A and reserved pages for sections B and C.</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Source: Gecko_Refined_Brief(1).pdf, page 1. Supplied by the team. Assignment 2 requirements screenshot: section A covers project scope and its relation to the final project goal. All statements describe proposed capabilities, not completed results. Concept artwork is illustrative, not a photograph of project equipment or evidence.</a:t>
            </a:r>
            <a:endParaRPr/>
          </a:p>
        </p:txBody>
      </p:sp>
      <p:sp>
        <p:nvSpPr>
          <p:cNvPr id="14" name="Google Shape;14;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 name="Google Shape;26;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 name="Google Shape;34;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a:t>The course-wide goal links science and technology learning with gecko care and wellbeing. Our contribution is reviewable evidence for learning, comparison of enclosure use and communication with teachers. Care communication is an extension in the latest brief, not an automatic health assessment. These are proposed benefits to validate with users.</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Source: Gecko_Refined_Brief(1).pdf, page 1. Supplied by the team. Assignment 2 requirements screenshot: section A covers project scope and its relation to the final project goal. All statements describe proposed capabilities, not completed results. Concept artwork is illustrative, not a photograph of project equipment or evidence.</a:t>
            </a:r>
            <a:endParaRPr/>
          </a:p>
        </p:txBody>
      </p:sp>
      <p:sp>
        <p:nvSpPr>
          <p:cNvPr id="35" name="Google Shape;35;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 name="Google Shape;52;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a:t>The system includes image and thermal acquisition, server storage, individual identification and location, and behavior information organization. The intended output feeds the project shared interface. A separate demonstration interface depends on time. Pattern recognition and reliable identity must be tested.</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Source: Gecko_Refined_Brief(1).pdf, page 1. Supplied by the team. Assignment 2 requirements screenshot: section A covers project scope and its relation to the final project goal. All statements describe proposed capabilities, not completed results. Concept artwork is illustrative, not a photograph of project equipment or evidence.</a:t>
            </a:r>
            <a:endParaRPr/>
          </a:p>
        </p:txBody>
      </p:sp>
      <p:sp>
        <p:nvSpPr>
          <p:cNvPr id="53" name="Google Shape;53;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 name="Google Shape;71;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a:t>This scope distinguishes basic activity and location records from candidate clips of more specific behaviors. Feeding, drinking and defecation clips require review and confirmation. A candidate event is not a confirmed behavior. Missing or invisible footage does not establish absence of activity.</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Source: Gecko_Refined_Brief(1).pdf, page 2. Supplied by the team. Assignment 2 requirements screenshot: section A covers project scope and its relation to the final project goal. All statements describe proposed capabilities, not completed results. Concept artwork is illustrative, not a photograph of project equipment or evidence.</a:t>
            </a:r>
            <a:endParaRPr/>
          </a:p>
        </p:txBody>
      </p:sp>
      <p:sp>
        <p:nvSpPr>
          <p:cNvPr id="72" name="Google Shape;72;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 name="Google Shape;86;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a:t>The latest brief proposes surface temperature monitoring by associating image location and thermal-array readings during valid visible periods. This is a measurement goal requiring experimental validation. The artwork is decorative and is not a thermal measurement or result.</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Source: Gecko_Refined_Brief(1).pdf, page 2. Supplied by the team. Assignment 2 requirements screenshot: section A covers project scope and its relation to the final project goal. All statements describe proposed capabilities, not completed results. Concept artwork is illustrative, not a photograph of project equipment or evidence.</a:t>
            </a:r>
            <a:endParaRPr/>
          </a:p>
        </p:txBody>
      </p:sp>
      <p:sp>
        <p:nvSpPr>
          <p:cNvPr id="87" name="Google Shape;87;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 name="Google Shape;101;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a:t>These are intended information outputs rather than existing system results. Students can view live images and retrieve historical footage by time. Observation-time suggestions use past records as references. Suspected unusual behavior reporting is initiated by students and submitted to teachers, not generated as a diagnosis.</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Source: Gecko_Refined_Brief(1).pdf, page 2. Supplied by the team. Assignment 2 requirements screenshot: section A covers project scope and its relation to the final project goal. All statements describe proposed capabilities, not completed results. Concept artwork is illustrative, not a photograph of project equipment or evidence.</a:t>
            </a:r>
            <a:endParaRPr/>
          </a:p>
        </p:txBody>
      </p:sp>
      <p:sp>
        <p:nvSpPr>
          <p:cNvPr id="102" name="Google Shape;102;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a:t>Our group proposes capture, storage, identification and location, information organization and sharing. Alignment with other groups covers time, areas and environmental records. The interface integration is an intended arrangement rather than a completed agreement. The team has not yet supplied its section B technical plan or section C detailed collaboration plan.</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Source: Gecko_Refined_Brief(1).pdf, page 2. Supplied by the team. Assignment 2 requirements screenshot: section A covers project scope and its relation to the final project goal. All statements describe proposed capabilities, not completed results. Concept artwork is illustrative, not a photograph of project equipment or evidence.</a:t>
            </a:r>
            <a:endParaRPr/>
          </a:p>
        </p:txBody>
      </p:sp>
      <p:sp>
        <p:nvSpPr>
          <p:cNvPr id="118" name="Google Shape;118;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 name="Google Shape;131;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a:t>This slide states the brief’s intended validation question. It does not claim measured educational improvement. The project seeks to determine whether continuous recording and organized behavioral information help students find observation opportunities, understand individual patterns and support evidence-based learning and care communication.</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Source: Gecko_Refined_Brief(1).pdf, page 1. Supplied by the team. Assignment 2 requirements screenshot: section A covers project scope and its relation to the final project goal. All statements describe proposed capabilities, not completed results. Concept artwork is illustrative, not a photograph of project equipment or evidence.</a:t>
            </a:r>
            <a:endParaRPr/>
          </a:p>
        </p:txBody>
      </p:sp>
      <p:sp>
        <p:nvSpPr>
          <p:cNvPr id="132" name="Google Shape;132;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h31b3314f7524dc90_1_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h31b3314f7524dc90_1_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 name="Google Shape;151;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152" name="Google Shape;152;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h7cea38253e7f5ec5_0_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 name="Google Shape;214;h7cea38253e7f5ec5_0_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215" name="Google Shape;215;h7cea38253e7f5ec5_0_3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h7cea38253e7f5ec5_0_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7" name="Google Shape;207;h7cea38253e7f5ec5_0_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208" name="Google Shape;208;h7cea38253e7f5ec5_0_2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h7cea38253e7f5ec5_0_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h7cea38253e7f5ec5_0_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201" name="Google Shape;201;h7cea38253e7f5ec5_0_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h7cea38253e7f5ec5_0_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3" name="Google Shape;193;h7cea38253e7f5ec5_0_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194" name="Google Shape;194;h7cea38253e7f5ec5_0_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8" name="Google Shape;158;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159" name="Google Shape;159;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 name="Google Shape;165;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166" name="Google Shape;166;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2" name="Google Shape;172;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173" name="Google Shape;173;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180" name="Google Shape;180;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h7cea38253e7f5ec5_0_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h7cea38253e7f5ec5_0_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p>
        </p:txBody>
      </p:sp>
      <p:sp>
        <p:nvSpPr>
          <p:cNvPr id="187" name="Google Shape;187;h7cea38253e7f5ec5_0_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40a2810a138_5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g40a2810a138_5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t>Source: Gecko_各组合作计划.pdf, page 1. English translation of the supplied discussion draft. Camera positions are proposed and require testing. P refers to Project number.</a:t>
            </a:r>
            <a:endParaRPr/>
          </a:p>
        </p:txBody>
      </p:sp>
      <p:sp>
        <p:nvSpPr>
          <p:cNvPr id="230" name="Google Shape;230;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9" name="Google Shape;239;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t>Source: Gecko_各组合作计划.pdf, page 1. English translation of the supplied discussion draft. Camera positions are proposed and require testing. P refers to Project number.</a:t>
            </a:r>
            <a:endParaRPr/>
          </a:p>
        </p:txBody>
      </p:sp>
      <p:sp>
        <p:nvSpPr>
          <p:cNvPr id="240" name="Google Shape;240;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9" name="Google Shape;249;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t>Source: Gecko_各组合作计划.pdf, page 1. English translation of the supplied discussion draft. Camera positions are proposed and require testing. P refers to Project number.</a:t>
            </a:r>
            <a:endParaRPr/>
          </a:p>
        </p:txBody>
      </p:sp>
      <p:sp>
        <p:nvSpPr>
          <p:cNvPr id="250" name="Google Shape;250;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t>Source: Gecko_各组合作计划.pdf, page 1. English translation of the supplied discussion draft. Camera positions are proposed and require testing. P refers to Project number.</a:t>
            </a:r>
            <a:endParaRPr/>
          </a:p>
        </p:txBody>
      </p:sp>
      <p:sp>
        <p:nvSpPr>
          <p:cNvPr id="260" name="Google Shape;260;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8" name="Google Shape;268;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200" b="0" i="0" u="none" strike="noStrike" cap="none"/>
              <a:t>Source: Gecko_各组合作计划.pdf, page 1. Translation of the proposed shared agreements in the discussion draft. Overall purpose: use synchronized video and environmental data to record individual behavior, activity timing and spatial use.</a:t>
            </a:r>
            <a:endParaRPr/>
          </a:p>
        </p:txBody>
      </p:sp>
      <p:sp>
        <p:nvSpPr>
          <p:cNvPr id="269" name="Google Shape;269;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40a2810a138_5_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4" name="Google Shape;284;g40a2810a138_5_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a:t>Our proposed system connects sustained observation with learning about individual leopard geckos. This draft contains section A and reserved pages for sections B and C.</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Source: Gecko_Refined_Brief(1).pdf, page 1. Supplied by the team. Assignment 2 requirements screenshot: section A covers project scope and its relation to the final project goal. All statements describe proposed capabilities, not completed results. Concept artwork is illustrative, not a photograph of project equipment or evidence.</a:t>
            </a:r>
            <a:endParaRPr/>
          </a:p>
        </p:txBody>
      </p:sp>
      <p:sp>
        <p:nvSpPr>
          <p:cNvPr id="285" name="Google Shape;285;g40a2810a138_5_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5"/>
        <p:cNvGrpSpPr/>
        <p:nvPr/>
      </p:nvGrpSpPr>
      <p:grpSpPr>
        <a:xfrm>
          <a:off x="0" y="0"/>
          <a:ext cx="0" cy="0"/>
          <a:chOff x="0" y="0"/>
          <a:chExt cx="0" cy="0"/>
        </a:xfrm>
      </p:grpSpPr>
      <p:pic>
        <p:nvPicPr>
          <p:cNvPr id="16" name="Google Shape;16;p1"/>
          <p:cNvPicPr preferRelativeResize="0"/>
          <p:nvPr/>
        </p:nvPicPr>
        <p:blipFill rotWithShape="1">
          <a:blip r:embed="rId3">
            <a:alphaModFix/>
          </a:blip>
          <a:srcRect t="27" b="27"/>
          <a:stretch/>
        </p:blipFill>
        <p:spPr>
          <a:xfrm>
            <a:off x="0" y="0"/>
            <a:ext cx="12192000" cy="6858000"/>
          </a:xfrm>
          <a:prstGeom prst="rect">
            <a:avLst/>
          </a:prstGeom>
          <a:noFill/>
          <a:ln>
            <a:noFill/>
          </a:ln>
        </p:spPr>
      </p:pic>
      <p:sp>
        <p:nvSpPr>
          <p:cNvPr id="17" name="Google Shape;17;p1"/>
          <p:cNvSpPr/>
          <p:nvPr/>
        </p:nvSpPr>
        <p:spPr>
          <a:xfrm>
            <a:off x="609600" y="533400"/>
            <a:ext cx="5715000" cy="6819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425"/>
              <a:buFont typeface="Arial"/>
              <a:buNone/>
            </a:pPr>
            <a:r>
              <a:rPr lang="en-US" sz="1425" b="1" i="0" u="none" strike="noStrike" cap="none">
                <a:solidFill>
                  <a:srgbClr val="60DDE5"/>
                </a:solidFill>
                <a:latin typeface="Arial"/>
                <a:ea typeface="Arial"/>
                <a:cs typeface="Arial"/>
                <a:sym typeface="Arial"/>
              </a:rPr>
              <a:t>SD5531   /   TEAM 2  </a:t>
            </a:r>
            <a:endParaRPr sz="1425" b="1" i="0" u="none" strike="noStrike" cap="none">
              <a:solidFill>
                <a:srgbClr val="60DDE5"/>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425"/>
              <a:buFont typeface="Arial"/>
              <a:buNone/>
            </a:pPr>
            <a:r>
              <a:rPr lang="en-US" sz="1425" b="0" i="0" u="none" strike="noStrike" cap="none">
                <a:solidFill>
                  <a:schemeClr val="lt1"/>
                </a:solidFill>
                <a:latin typeface="Arial"/>
                <a:ea typeface="Arial"/>
                <a:cs typeface="Arial"/>
                <a:sym typeface="Arial"/>
              </a:rPr>
              <a:t>Yichen Zhang | Kecheng Zhu | Haolin Yang | </a:t>
            </a:r>
            <a:r>
              <a:rPr lang="en-US" sz="1425">
                <a:solidFill>
                  <a:schemeClr val="lt1"/>
                </a:solidFill>
              </a:rPr>
              <a:t>James Eric Liu</a:t>
            </a:r>
            <a:endParaRPr sz="1400" b="0" i="0" u="none" strike="noStrike" cap="none">
              <a:solidFill>
                <a:schemeClr val="lt1"/>
              </a:solidFill>
              <a:latin typeface="Arial"/>
              <a:ea typeface="Arial"/>
              <a:cs typeface="Arial"/>
              <a:sym typeface="Arial"/>
            </a:endParaRPr>
          </a:p>
        </p:txBody>
      </p:sp>
      <p:sp>
        <p:nvSpPr>
          <p:cNvPr id="18" name="Google Shape;18;p1"/>
          <p:cNvSpPr/>
          <p:nvPr/>
        </p:nvSpPr>
        <p:spPr>
          <a:xfrm>
            <a:off x="609600" y="1809750"/>
            <a:ext cx="6096000" cy="2667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4875"/>
              <a:buFont typeface="Arial"/>
              <a:buNone/>
            </a:pPr>
            <a:r>
              <a:rPr lang="en-US" sz="4875" b="1" i="0" u="none" strike="noStrike" cap="none">
                <a:solidFill>
                  <a:srgbClr val="F5F8F7"/>
                </a:solidFill>
                <a:latin typeface="Arial"/>
                <a:ea typeface="Arial"/>
                <a:cs typeface="Arial"/>
                <a:sym typeface="Arial"/>
              </a:rPr>
              <a:t>Leopard Gecko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875"/>
              <a:buFont typeface="Arial"/>
              <a:buNone/>
            </a:pPr>
            <a:r>
              <a:rPr lang="en-US" sz="4875" b="1" i="0" u="none" strike="noStrike" cap="none">
                <a:solidFill>
                  <a:srgbClr val="F5F8F7"/>
                </a:solidFill>
                <a:latin typeface="Arial"/>
                <a:ea typeface="Arial"/>
                <a:cs typeface="Arial"/>
                <a:sym typeface="Arial"/>
              </a:rPr>
              <a:t>Behavior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875"/>
              <a:buFont typeface="Arial"/>
              <a:buNone/>
            </a:pPr>
            <a:r>
              <a:rPr lang="en-US" sz="4875" b="1" i="0" u="none" strike="noStrike" cap="none">
                <a:solidFill>
                  <a:srgbClr val="F5F8F7"/>
                </a:solidFill>
                <a:latin typeface="Arial"/>
                <a:ea typeface="Arial"/>
                <a:cs typeface="Arial"/>
                <a:sym typeface="Arial"/>
              </a:rPr>
              <a:t>Monitoring</a:t>
            </a:r>
            <a:endParaRPr sz="1400" b="0" i="0" u="none" strike="noStrike" cap="none">
              <a:solidFill>
                <a:srgbClr val="000000"/>
              </a:solidFill>
              <a:latin typeface="Arial"/>
              <a:ea typeface="Arial"/>
              <a:cs typeface="Arial"/>
              <a:sym typeface="Arial"/>
            </a:endParaRPr>
          </a:p>
        </p:txBody>
      </p:sp>
      <p:sp>
        <p:nvSpPr>
          <p:cNvPr id="19" name="Google Shape;19;p1"/>
          <p:cNvSpPr/>
          <p:nvPr/>
        </p:nvSpPr>
        <p:spPr>
          <a:xfrm>
            <a:off x="609600" y="4476750"/>
            <a:ext cx="6096000" cy="4191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950"/>
              <a:buFont typeface="Arial"/>
              <a:buNone/>
            </a:pPr>
            <a:r>
              <a:rPr lang="en-US" sz="1950" b="0" i="0" u="none" strike="noStrike" cap="none">
                <a:solidFill>
                  <a:srgbClr val="C6F36B"/>
                </a:solidFill>
                <a:latin typeface="Arial"/>
                <a:ea typeface="Arial"/>
                <a:cs typeface="Arial"/>
                <a:sym typeface="Arial"/>
              </a:rPr>
              <a:t>Project 2  •  Video Recording Module</a:t>
            </a:r>
            <a:endParaRPr sz="1400" b="0" i="0" u="none" strike="noStrike" cap="none">
              <a:solidFill>
                <a:srgbClr val="000000"/>
              </a:solidFill>
              <a:latin typeface="Arial"/>
              <a:ea typeface="Arial"/>
              <a:cs typeface="Arial"/>
              <a:sym typeface="Arial"/>
            </a:endParaRPr>
          </a:p>
        </p:txBody>
      </p:sp>
      <p:sp>
        <p:nvSpPr>
          <p:cNvPr id="20" name="Google Shape;20;p1"/>
          <p:cNvSpPr/>
          <p:nvPr/>
        </p:nvSpPr>
        <p:spPr>
          <a:xfrm>
            <a:off x="609600" y="5071100"/>
            <a:ext cx="5905500" cy="7143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650"/>
              <a:buFont typeface="Arial"/>
              <a:buNone/>
            </a:pPr>
            <a:r>
              <a:rPr lang="en-US" sz="1650" b="0" i="0" u="none" strike="noStrike" cap="none">
                <a:solidFill>
                  <a:srgbClr val="A7B9BD"/>
                </a:solidFill>
                <a:latin typeface="Arial"/>
                <a:ea typeface="Arial"/>
                <a:cs typeface="Arial"/>
                <a:sym typeface="Arial"/>
              </a:rPr>
              <a:t>Assignment 2</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650"/>
              <a:buFont typeface="Arial"/>
              <a:buNone/>
            </a:pPr>
            <a:r>
              <a:rPr lang="en-US" sz="1650" b="0" i="0" u="none" strike="noStrike" cap="none">
                <a:solidFill>
                  <a:srgbClr val="A7B9BD"/>
                </a:solidFill>
                <a:latin typeface="Arial"/>
                <a:ea typeface="Arial"/>
                <a:cs typeface="Arial"/>
                <a:sym typeface="Arial"/>
              </a:rPr>
              <a:t>Project scope and technical exploration</a:t>
            </a:r>
            <a:endParaRPr sz="1400" b="0" i="0" u="none" strike="noStrike" cap="none">
              <a:solidFill>
                <a:srgbClr val="000000"/>
              </a:solidFill>
              <a:latin typeface="Arial"/>
              <a:ea typeface="Arial"/>
              <a:cs typeface="Arial"/>
              <a:sym typeface="Arial"/>
            </a:endParaRPr>
          </a:p>
        </p:txBody>
      </p:sp>
      <p:sp>
        <p:nvSpPr>
          <p:cNvPr id="21" name="Google Shape;21;p1"/>
          <p:cNvSpPr/>
          <p:nvPr/>
        </p:nvSpPr>
        <p:spPr>
          <a:xfrm>
            <a:off x="5823950" y="1809750"/>
            <a:ext cx="3410000" cy="3431875"/>
          </a:xfrm>
          <a:prstGeom prst="flowChartProcess">
            <a:avLst/>
          </a:prstGeom>
          <a:solidFill>
            <a:srgbClr val="C6F36B">
              <a:alpha val="2196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1"/>
          <p:cNvSpPr/>
          <p:nvPr/>
        </p:nvSpPr>
        <p:spPr>
          <a:xfrm>
            <a:off x="5823950" y="1809750"/>
            <a:ext cx="681900" cy="681900"/>
          </a:xfrm>
          <a:prstGeom prst="halfFrame">
            <a:avLst>
              <a:gd name="adj1" fmla="val 33333"/>
              <a:gd name="adj2" fmla="val 33333"/>
            </a:avLst>
          </a:prstGeom>
          <a:solidFill>
            <a:srgbClr val="C6F36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1"/>
          <p:cNvSpPr/>
          <p:nvPr/>
        </p:nvSpPr>
        <p:spPr>
          <a:xfrm rot="10800000">
            <a:off x="8552050" y="4559725"/>
            <a:ext cx="681900" cy="681900"/>
          </a:xfrm>
          <a:prstGeom prst="halfFrame">
            <a:avLst>
              <a:gd name="adj1" fmla="val 33333"/>
              <a:gd name="adj2" fmla="val 33333"/>
            </a:avLst>
          </a:prstGeom>
          <a:solidFill>
            <a:srgbClr val="C6F36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7"/>
        <p:cNvGrpSpPr/>
        <p:nvPr/>
      </p:nvGrpSpPr>
      <p:grpSpPr>
        <a:xfrm>
          <a:off x="0" y="0"/>
          <a:ext cx="0" cy="0"/>
          <a:chOff x="0" y="0"/>
          <a:chExt cx="0" cy="0"/>
        </a:xfrm>
      </p:grpSpPr>
      <p:sp>
        <p:nvSpPr>
          <p:cNvPr id="28" name="Google Shape;28;p2"/>
          <p:cNvSpPr/>
          <p:nvPr/>
        </p:nvSpPr>
        <p:spPr>
          <a:xfrm>
            <a:off x="-209138" y="-1303233"/>
            <a:ext cx="2190900" cy="18096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40000"/>
              <a:buFont typeface="Arial"/>
              <a:buNone/>
            </a:pPr>
            <a:r>
              <a:rPr lang="en-US" sz="40000" b="1" i="0" u="none" strike="noStrike" cap="none">
                <a:solidFill>
                  <a:schemeClr val="lt1"/>
                </a:solidFill>
                <a:latin typeface="Arial"/>
                <a:ea typeface="Arial"/>
                <a:cs typeface="Arial"/>
                <a:sym typeface="Arial"/>
              </a:rPr>
              <a:t>A</a:t>
            </a:r>
            <a:endParaRPr sz="40000" b="0" i="0" u="none" strike="noStrike" cap="none">
              <a:solidFill>
                <a:schemeClr val="lt1"/>
              </a:solidFill>
              <a:latin typeface="Arial"/>
              <a:ea typeface="Arial"/>
              <a:cs typeface="Arial"/>
              <a:sym typeface="Arial"/>
            </a:endParaRPr>
          </a:p>
        </p:txBody>
      </p:sp>
      <p:sp>
        <p:nvSpPr>
          <p:cNvPr id="29" name="Google Shape;29;p2"/>
          <p:cNvSpPr/>
          <p:nvPr/>
        </p:nvSpPr>
        <p:spPr>
          <a:xfrm>
            <a:off x="6938323" y="3627142"/>
            <a:ext cx="5715000" cy="200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800"/>
              <a:buFont typeface="Arial"/>
              <a:buNone/>
            </a:pPr>
            <a:r>
              <a:rPr lang="en-US" sz="4800" b="1" i="0" u="none" strike="noStrike" cap="none">
                <a:solidFill>
                  <a:srgbClr val="F5F8F7"/>
                </a:solidFill>
                <a:latin typeface="Arial"/>
                <a:ea typeface="Arial"/>
                <a:cs typeface="Arial"/>
                <a:sym typeface="Arial"/>
              </a:rPr>
              <a:t>PROJECT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800"/>
              <a:buFont typeface="Arial"/>
              <a:buNone/>
            </a:pPr>
            <a:r>
              <a:rPr lang="en-US" sz="4800" b="1" i="0" u="none" strike="noStrike" cap="none">
                <a:solidFill>
                  <a:srgbClr val="C6F36B"/>
                </a:solidFill>
                <a:latin typeface="Arial"/>
                <a:ea typeface="Arial"/>
                <a:cs typeface="Arial"/>
                <a:sym typeface="Arial"/>
              </a:rPr>
              <a:t>SCOPE</a:t>
            </a:r>
            <a:endParaRPr sz="1400" b="0" i="0" u="none" strike="noStrike" cap="none">
              <a:solidFill>
                <a:srgbClr val="C6F36B"/>
              </a:solidFill>
              <a:latin typeface="Arial"/>
              <a:ea typeface="Arial"/>
              <a:cs typeface="Arial"/>
              <a:sym typeface="Arial"/>
            </a:endParaRPr>
          </a:p>
        </p:txBody>
      </p:sp>
      <p:pic>
        <p:nvPicPr>
          <p:cNvPr id="30" name="Google Shape;30;p2" title="Focus Frame Target--Streamline-Ultimate (3).png"/>
          <p:cNvPicPr preferRelativeResize="0"/>
          <p:nvPr/>
        </p:nvPicPr>
        <p:blipFill rotWithShape="1">
          <a:blip r:embed="rId3">
            <a:alphaModFix/>
          </a:blip>
          <a:srcRect/>
          <a:stretch/>
        </p:blipFill>
        <p:spPr>
          <a:xfrm>
            <a:off x="4687880" y="3726215"/>
            <a:ext cx="2000100" cy="2000100"/>
          </a:xfrm>
          <a:prstGeom prst="rect">
            <a:avLst/>
          </a:prstGeom>
          <a:noFill/>
          <a:ln>
            <a:noFill/>
          </a:ln>
        </p:spPr>
      </p:pic>
      <p:sp>
        <p:nvSpPr>
          <p:cNvPr id="31" name="Google Shape;31;p2"/>
          <p:cNvSpPr/>
          <p:nvPr/>
        </p:nvSpPr>
        <p:spPr>
          <a:xfrm>
            <a:off x="7037350" y="5526825"/>
            <a:ext cx="5154600" cy="199500"/>
          </a:xfrm>
          <a:prstGeom prst="rect">
            <a:avLst/>
          </a:prstGeom>
          <a:solidFill>
            <a:srgbClr val="C6F36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36"/>
        <p:cNvGrpSpPr/>
        <p:nvPr/>
      </p:nvGrpSpPr>
      <p:grpSpPr>
        <a:xfrm>
          <a:off x="0" y="0"/>
          <a:ext cx="0" cy="0"/>
          <a:chOff x="0" y="0"/>
          <a:chExt cx="0" cy="0"/>
        </a:xfrm>
      </p:grpSpPr>
      <p:sp>
        <p:nvSpPr>
          <p:cNvPr id="37" name="Google Shape;37;p3"/>
          <p:cNvSpPr/>
          <p:nvPr/>
        </p:nvSpPr>
        <p:spPr>
          <a:xfrm>
            <a:off x="6734563" y="3066486"/>
            <a:ext cx="754500" cy="119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5000"/>
              <a:buFont typeface="Arial"/>
              <a:buNone/>
            </a:pPr>
            <a:r>
              <a:rPr lang="en-US" sz="15000" b="1" i="1" u="none" strike="noStrike" cap="none">
                <a:solidFill>
                  <a:srgbClr val="2B2B2B"/>
                </a:solidFill>
                <a:latin typeface="Arial"/>
                <a:ea typeface="Arial"/>
                <a:cs typeface="Arial"/>
                <a:sym typeface="Arial"/>
              </a:rPr>
              <a:t>2</a:t>
            </a:r>
            <a:endParaRPr sz="15000" b="0" i="1" u="none" strike="noStrike" cap="none">
              <a:solidFill>
                <a:srgbClr val="2B2B2B"/>
              </a:solidFill>
              <a:latin typeface="Arial"/>
              <a:ea typeface="Arial"/>
              <a:cs typeface="Arial"/>
              <a:sym typeface="Arial"/>
            </a:endParaRPr>
          </a:p>
        </p:txBody>
      </p:sp>
      <p:sp>
        <p:nvSpPr>
          <p:cNvPr id="38" name="Google Shape;38;p3"/>
          <p:cNvSpPr/>
          <p:nvPr/>
        </p:nvSpPr>
        <p:spPr>
          <a:xfrm>
            <a:off x="10641953" y="3066486"/>
            <a:ext cx="754500" cy="119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5000"/>
              <a:buFont typeface="Arial"/>
              <a:buNone/>
            </a:pPr>
            <a:r>
              <a:rPr lang="en-US" sz="15000" b="1" i="1" u="none" strike="noStrike" cap="none">
                <a:solidFill>
                  <a:srgbClr val="2B2B2B"/>
                </a:solidFill>
                <a:latin typeface="Arial"/>
                <a:ea typeface="Arial"/>
                <a:cs typeface="Arial"/>
                <a:sym typeface="Arial"/>
              </a:rPr>
              <a:t>3</a:t>
            </a:r>
            <a:endParaRPr sz="15000" b="0" i="1" u="none" strike="noStrike" cap="none">
              <a:solidFill>
                <a:srgbClr val="2B2B2B"/>
              </a:solidFill>
              <a:latin typeface="Arial"/>
              <a:ea typeface="Arial"/>
              <a:cs typeface="Arial"/>
              <a:sym typeface="Arial"/>
            </a:endParaRPr>
          </a:p>
        </p:txBody>
      </p:sp>
      <p:sp>
        <p:nvSpPr>
          <p:cNvPr id="39" name="Google Shape;39;p3"/>
          <p:cNvSpPr/>
          <p:nvPr/>
        </p:nvSpPr>
        <p:spPr>
          <a:xfrm>
            <a:off x="2827173" y="3066486"/>
            <a:ext cx="754500" cy="119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5000"/>
              <a:buFont typeface="Arial"/>
              <a:buNone/>
            </a:pPr>
            <a:r>
              <a:rPr lang="en-US" sz="15000" b="1" i="1" u="none" strike="noStrike" cap="none">
                <a:solidFill>
                  <a:srgbClr val="2B2B2B"/>
                </a:solidFill>
                <a:latin typeface="Arial"/>
                <a:ea typeface="Arial"/>
                <a:cs typeface="Arial"/>
                <a:sym typeface="Arial"/>
              </a:rPr>
              <a:t>1</a:t>
            </a:r>
            <a:endParaRPr sz="15000" b="0" i="1" u="none" strike="noStrike" cap="none">
              <a:solidFill>
                <a:srgbClr val="2B2B2B"/>
              </a:solidFill>
              <a:latin typeface="Arial"/>
              <a:ea typeface="Arial"/>
              <a:cs typeface="Arial"/>
              <a:sym typeface="Arial"/>
            </a:endParaRPr>
          </a:p>
        </p:txBody>
      </p:sp>
      <p:sp>
        <p:nvSpPr>
          <p:cNvPr id="40" name="Google Shape;40;p3"/>
          <p:cNvSpPr/>
          <p:nvPr/>
        </p:nvSpPr>
        <p:spPr>
          <a:xfrm>
            <a:off x="609600" y="342900"/>
            <a:ext cx="95250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60DDE5"/>
                </a:solidFill>
                <a:latin typeface="Arial"/>
                <a:ea typeface="Arial"/>
                <a:cs typeface="Arial"/>
                <a:sym typeface="Arial"/>
              </a:rPr>
              <a:t>A  PROJECT SCOPE</a:t>
            </a:r>
            <a:endParaRPr sz="1400" b="0" i="0" u="none" strike="noStrike" cap="none">
              <a:solidFill>
                <a:srgbClr val="000000"/>
              </a:solidFill>
              <a:latin typeface="Arial"/>
              <a:ea typeface="Arial"/>
              <a:cs typeface="Arial"/>
              <a:sym typeface="Arial"/>
            </a:endParaRPr>
          </a:p>
        </p:txBody>
      </p:sp>
      <p:sp>
        <p:nvSpPr>
          <p:cNvPr id="41" name="Google Shape;41;p3"/>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3450"/>
              <a:buFont typeface="Arial"/>
              <a:buNone/>
            </a:pPr>
            <a:r>
              <a:rPr lang="en-US" sz="3450" b="1" i="0" u="none" strike="noStrike" cap="none">
                <a:solidFill>
                  <a:srgbClr val="F5F8F7"/>
                </a:solidFill>
                <a:latin typeface="Arial"/>
                <a:ea typeface="Arial"/>
                <a:cs typeface="Arial"/>
                <a:sym typeface="Arial"/>
              </a:rPr>
              <a:t>Purpose and wider project goal</a:t>
            </a:r>
            <a:endParaRPr sz="1400" b="0" i="0" u="none" strike="noStrike" cap="none">
              <a:solidFill>
                <a:srgbClr val="000000"/>
              </a:solidFill>
              <a:latin typeface="Arial"/>
              <a:ea typeface="Arial"/>
              <a:cs typeface="Arial"/>
              <a:sym typeface="Arial"/>
            </a:endParaRPr>
          </a:p>
        </p:txBody>
      </p:sp>
      <p:sp>
        <p:nvSpPr>
          <p:cNvPr id="42" name="Google Shape;42;p3"/>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125"/>
              <a:buFont typeface="Arial"/>
              <a:buNone/>
            </a:pPr>
            <a:r>
              <a:rPr lang="en-US" sz="1125" b="0" i="0" u="none" strike="noStrike" cap="none">
                <a:solidFill>
                  <a:srgbClr val="A7B9BD"/>
                </a:solidFill>
                <a:latin typeface="Arial"/>
                <a:ea typeface="Arial"/>
                <a:cs typeface="Arial"/>
                <a:sym typeface="Arial"/>
              </a:rPr>
              <a:t>03</a:t>
            </a:r>
            <a:endParaRPr sz="1400" b="0" i="0" u="none" strike="noStrike" cap="none">
              <a:solidFill>
                <a:srgbClr val="000000"/>
              </a:solidFill>
              <a:latin typeface="Arial"/>
              <a:ea typeface="Arial"/>
              <a:cs typeface="Arial"/>
              <a:sym typeface="Arial"/>
            </a:endParaRPr>
          </a:p>
        </p:txBody>
      </p:sp>
      <p:sp>
        <p:nvSpPr>
          <p:cNvPr id="43" name="Google Shape;43;p3"/>
          <p:cNvSpPr/>
          <p:nvPr/>
        </p:nvSpPr>
        <p:spPr>
          <a:xfrm>
            <a:off x="609600" y="1911957"/>
            <a:ext cx="10001400" cy="119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900"/>
              <a:buFont typeface="Arial"/>
              <a:buNone/>
            </a:pPr>
            <a:r>
              <a:rPr lang="en-US" sz="3900" b="1" i="0" u="none" strike="noStrike" cap="none" dirty="0">
                <a:solidFill>
                  <a:srgbClr val="C6F36B"/>
                </a:solidFill>
                <a:latin typeface="Arial"/>
                <a:ea typeface="Arial"/>
                <a:cs typeface="Arial"/>
                <a:sym typeface="Arial"/>
              </a:rPr>
              <a:t>Sustained evidence for</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900"/>
              <a:buFont typeface="Arial"/>
              <a:buNone/>
            </a:pPr>
            <a:r>
              <a:rPr lang="en-US" sz="3900" b="1" i="0" u="none" strike="noStrike" cap="none" dirty="0">
                <a:solidFill>
                  <a:srgbClr val="C6F36B"/>
                </a:solidFill>
                <a:latin typeface="Arial"/>
                <a:ea typeface="Arial"/>
                <a:cs typeface="Arial"/>
                <a:sym typeface="Arial"/>
              </a:rPr>
              <a:t>student observation</a:t>
            </a:r>
            <a:endParaRPr sz="1400" b="0" i="0" u="none" strike="noStrike" cap="none" dirty="0">
              <a:solidFill>
                <a:srgbClr val="000000"/>
              </a:solidFill>
              <a:latin typeface="Arial"/>
              <a:ea typeface="Arial"/>
              <a:cs typeface="Arial"/>
              <a:sym typeface="Arial"/>
            </a:endParaRPr>
          </a:p>
        </p:txBody>
      </p:sp>
      <p:sp>
        <p:nvSpPr>
          <p:cNvPr id="44" name="Google Shape;44;p3"/>
          <p:cNvSpPr/>
          <p:nvPr/>
        </p:nvSpPr>
        <p:spPr>
          <a:xfrm>
            <a:off x="609600" y="3724275"/>
            <a:ext cx="3381375" cy="6286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1" i="0" u="none" strike="noStrike" cap="none">
                <a:solidFill>
                  <a:srgbClr val="F5F8F7"/>
                </a:solidFill>
                <a:latin typeface="Arial"/>
                <a:ea typeface="Arial"/>
                <a:cs typeface="Arial"/>
                <a:sym typeface="Arial"/>
              </a:rPr>
              <a:t>Observation and research</a:t>
            </a:r>
            <a:endParaRPr sz="1400" b="0" i="0" u="none" strike="noStrike" cap="none">
              <a:solidFill>
                <a:srgbClr val="000000"/>
              </a:solidFill>
              <a:latin typeface="Arial"/>
              <a:ea typeface="Arial"/>
              <a:cs typeface="Arial"/>
              <a:sym typeface="Arial"/>
            </a:endParaRPr>
          </a:p>
        </p:txBody>
      </p:sp>
      <p:sp>
        <p:nvSpPr>
          <p:cNvPr id="45" name="Google Shape;45;p3"/>
          <p:cNvSpPr/>
          <p:nvPr/>
        </p:nvSpPr>
        <p:spPr>
          <a:xfrm>
            <a:off x="609600" y="4572000"/>
            <a:ext cx="3381375" cy="13525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A7B9BD"/>
                </a:solidFill>
                <a:latin typeface="Arial"/>
                <a:ea typeface="Arial"/>
                <a:cs typeface="Arial"/>
                <a:sym typeface="Arial"/>
              </a:rPr>
              <a:t>Find target events, compare dates and develop questions using live views and recorded evidence.</a:t>
            </a:r>
            <a:endParaRPr sz="1400" b="0" i="0" u="none" strike="noStrike" cap="none">
              <a:solidFill>
                <a:srgbClr val="000000"/>
              </a:solidFill>
              <a:latin typeface="Arial"/>
              <a:ea typeface="Arial"/>
              <a:cs typeface="Arial"/>
              <a:sym typeface="Arial"/>
            </a:endParaRPr>
          </a:p>
        </p:txBody>
      </p:sp>
      <p:sp>
        <p:nvSpPr>
          <p:cNvPr id="46" name="Google Shape;46;p3"/>
          <p:cNvSpPr/>
          <p:nvPr/>
        </p:nvSpPr>
        <p:spPr>
          <a:xfrm>
            <a:off x="4381500" y="3724275"/>
            <a:ext cx="3381375" cy="6286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1" i="0" u="none" strike="noStrike" cap="none">
                <a:solidFill>
                  <a:srgbClr val="F5F8F7"/>
                </a:solidFill>
                <a:latin typeface="Arial"/>
                <a:ea typeface="Arial"/>
                <a:cs typeface="Arial"/>
                <a:sym typeface="Arial"/>
              </a:rPr>
              <a:t>Behavior and environment</a:t>
            </a:r>
            <a:endParaRPr sz="1400" b="0" i="0" u="none" strike="noStrike" cap="none">
              <a:solidFill>
                <a:srgbClr val="000000"/>
              </a:solidFill>
              <a:latin typeface="Arial"/>
              <a:ea typeface="Arial"/>
              <a:cs typeface="Arial"/>
              <a:sym typeface="Arial"/>
            </a:endParaRPr>
          </a:p>
        </p:txBody>
      </p:sp>
      <p:sp>
        <p:nvSpPr>
          <p:cNvPr id="47" name="Google Shape;47;p3"/>
          <p:cNvSpPr/>
          <p:nvPr/>
        </p:nvSpPr>
        <p:spPr>
          <a:xfrm>
            <a:off x="4381500" y="4572000"/>
            <a:ext cx="3381375" cy="13525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A7B9BD"/>
                </a:solidFill>
                <a:latin typeface="Arial"/>
                <a:ea typeface="Arial"/>
                <a:cs typeface="Arial"/>
                <a:sym typeface="Arial"/>
              </a:rPr>
              <a:t>Compare how geckos use the enclosure alongside layout, environmental conditions and operation records.</a:t>
            </a:r>
            <a:endParaRPr sz="1400" b="0" i="0" u="none" strike="noStrike" cap="none">
              <a:solidFill>
                <a:srgbClr val="000000"/>
              </a:solidFill>
              <a:latin typeface="Arial"/>
              <a:ea typeface="Arial"/>
              <a:cs typeface="Arial"/>
              <a:sym typeface="Arial"/>
            </a:endParaRPr>
          </a:p>
        </p:txBody>
      </p:sp>
      <p:sp>
        <p:nvSpPr>
          <p:cNvPr id="48" name="Google Shape;48;p3"/>
          <p:cNvSpPr/>
          <p:nvPr/>
        </p:nvSpPr>
        <p:spPr>
          <a:xfrm>
            <a:off x="8153400" y="3724275"/>
            <a:ext cx="3381375" cy="6286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1" i="0" u="none" strike="noStrike" cap="none">
                <a:solidFill>
                  <a:srgbClr val="F5F8F7"/>
                </a:solidFill>
                <a:latin typeface="Arial"/>
                <a:ea typeface="Arial"/>
                <a:cs typeface="Arial"/>
                <a:sym typeface="Arial"/>
              </a:rPr>
              <a:t>Care communication</a:t>
            </a:r>
            <a:endParaRPr sz="1400" b="0" i="0" u="none" strike="noStrike" cap="none">
              <a:solidFill>
                <a:srgbClr val="000000"/>
              </a:solidFill>
              <a:latin typeface="Arial"/>
              <a:ea typeface="Arial"/>
              <a:cs typeface="Arial"/>
              <a:sym typeface="Arial"/>
            </a:endParaRPr>
          </a:p>
        </p:txBody>
      </p:sp>
      <p:sp>
        <p:nvSpPr>
          <p:cNvPr id="49" name="Google Shape;49;p3"/>
          <p:cNvSpPr/>
          <p:nvPr/>
        </p:nvSpPr>
        <p:spPr>
          <a:xfrm>
            <a:off x="8153400" y="4572000"/>
            <a:ext cx="3381375" cy="13525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A7B9BD"/>
                </a:solidFill>
                <a:latin typeface="Arial"/>
                <a:ea typeface="Arial"/>
                <a:cs typeface="Arial"/>
                <a:sym typeface="Arial"/>
              </a:rPr>
              <a:t>As an extension, students select a clip, add an observation and ask a teacher to review it.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54"/>
        <p:cNvGrpSpPr/>
        <p:nvPr/>
      </p:nvGrpSpPr>
      <p:grpSpPr>
        <a:xfrm>
          <a:off x="0" y="0"/>
          <a:ext cx="0" cy="0"/>
          <a:chOff x="0" y="0"/>
          <a:chExt cx="0" cy="0"/>
        </a:xfrm>
      </p:grpSpPr>
      <p:sp>
        <p:nvSpPr>
          <p:cNvPr id="55" name="Google Shape;55;p4"/>
          <p:cNvSpPr/>
          <p:nvPr/>
        </p:nvSpPr>
        <p:spPr>
          <a:xfrm>
            <a:off x="609600" y="342900"/>
            <a:ext cx="95250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60DDE5"/>
                </a:solidFill>
                <a:latin typeface="Arial"/>
                <a:ea typeface="Arial"/>
                <a:cs typeface="Arial"/>
                <a:sym typeface="Arial"/>
              </a:rPr>
              <a:t>A  PROJECT SCOPE</a:t>
            </a:r>
            <a:endParaRPr sz="1400" b="0" i="0" u="none" strike="noStrike" cap="none">
              <a:solidFill>
                <a:srgbClr val="000000"/>
              </a:solidFill>
              <a:latin typeface="Arial"/>
              <a:ea typeface="Arial"/>
              <a:cs typeface="Arial"/>
              <a:sym typeface="Arial"/>
            </a:endParaRPr>
          </a:p>
        </p:txBody>
      </p:sp>
      <p:sp>
        <p:nvSpPr>
          <p:cNvPr id="56" name="Google Shape;56;p4"/>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3450"/>
              <a:buFont typeface="Arial"/>
              <a:buNone/>
            </a:pPr>
            <a:r>
              <a:rPr lang="en-US" sz="3450" b="1" i="0" u="none" strike="noStrike" cap="none">
                <a:solidFill>
                  <a:srgbClr val="F5F8F7"/>
                </a:solidFill>
                <a:latin typeface="Arial"/>
                <a:ea typeface="Arial"/>
                <a:cs typeface="Arial"/>
                <a:sym typeface="Arial"/>
              </a:rPr>
              <a:t>System scope</a:t>
            </a:r>
            <a:endParaRPr sz="1400" b="0" i="0" u="none" strike="noStrike" cap="none">
              <a:solidFill>
                <a:srgbClr val="000000"/>
              </a:solidFill>
              <a:latin typeface="Arial"/>
              <a:ea typeface="Arial"/>
              <a:cs typeface="Arial"/>
              <a:sym typeface="Arial"/>
            </a:endParaRPr>
          </a:p>
        </p:txBody>
      </p:sp>
      <p:sp>
        <p:nvSpPr>
          <p:cNvPr id="57" name="Google Shape;57;p4"/>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125"/>
              <a:buFont typeface="Arial"/>
              <a:buNone/>
            </a:pPr>
            <a:r>
              <a:rPr lang="en-US" sz="1125" b="0" i="0" u="none" strike="noStrike" cap="none">
                <a:solidFill>
                  <a:srgbClr val="A7B9BD"/>
                </a:solidFill>
                <a:latin typeface="Arial"/>
                <a:ea typeface="Arial"/>
                <a:cs typeface="Arial"/>
                <a:sym typeface="Arial"/>
              </a:rPr>
              <a:t>04</a:t>
            </a:r>
            <a:endParaRPr sz="1400" b="0" i="0" u="none" strike="noStrike" cap="none">
              <a:solidFill>
                <a:srgbClr val="000000"/>
              </a:solidFill>
              <a:latin typeface="Arial"/>
              <a:ea typeface="Arial"/>
              <a:cs typeface="Arial"/>
              <a:sym typeface="Arial"/>
            </a:endParaRPr>
          </a:p>
        </p:txBody>
      </p:sp>
      <p:sp>
        <p:nvSpPr>
          <p:cNvPr id="58" name="Google Shape;58;p4"/>
          <p:cNvSpPr/>
          <p:nvPr/>
        </p:nvSpPr>
        <p:spPr>
          <a:xfrm>
            <a:off x="609600" y="1773721"/>
            <a:ext cx="10287000" cy="100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25"/>
              <a:buFont typeface="Arial"/>
              <a:buNone/>
            </a:pPr>
            <a:r>
              <a:rPr lang="en-US" sz="3225" b="1" i="0" u="none" strike="noStrike" cap="none">
                <a:solidFill>
                  <a:srgbClr val="C6F36B"/>
                </a:solidFill>
                <a:latin typeface="Arial"/>
                <a:ea typeface="Arial"/>
                <a:cs typeface="Arial"/>
                <a:sym typeface="Arial"/>
              </a:rPr>
              <a:t>One observation record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25"/>
              <a:buFont typeface="Arial"/>
              <a:buNone/>
            </a:pPr>
            <a:r>
              <a:rPr lang="en-US" sz="3225" b="1" i="0" u="none" strike="noStrike" cap="none">
                <a:solidFill>
                  <a:srgbClr val="C6F36B"/>
                </a:solidFill>
                <a:latin typeface="Arial"/>
                <a:ea typeface="Arial"/>
                <a:cs typeface="Arial"/>
                <a:sym typeface="Arial"/>
              </a:rPr>
              <a:t>for each identifiable gecko</a:t>
            </a:r>
            <a:endParaRPr sz="1400" b="0" i="0" u="none" strike="noStrike" cap="none">
              <a:solidFill>
                <a:srgbClr val="000000"/>
              </a:solidFill>
              <a:latin typeface="Arial"/>
              <a:ea typeface="Arial"/>
              <a:cs typeface="Arial"/>
              <a:sym typeface="Arial"/>
            </a:endParaRPr>
          </a:p>
        </p:txBody>
      </p:sp>
      <p:sp>
        <p:nvSpPr>
          <p:cNvPr id="59" name="Google Shape;59;p4"/>
          <p:cNvSpPr/>
          <p:nvPr/>
        </p:nvSpPr>
        <p:spPr>
          <a:xfrm>
            <a:off x="609600" y="3305175"/>
            <a:ext cx="714375" cy="4762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75"/>
              <a:buFont typeface="Arial"/>
              <a:buNone/>
            </a:pPr>
            <a:r>
              <a:rPr lang="en-US" sz="2175" b="1" i="0" u="none" strike="noStrike" cap="none">
                <a:solidFill>
                  <a:srgbClr val="60DDE5"/>
                </a:solidFill>
                <a:latin typeface="Arial"/>
                <a:ea typeface="Arial"/>
                <a:cs typeface="Arial"/>
                <a:sym typeface="Arial"/>
              </a:rPr>
              <a:t>01</a:t>
            </a:r>
            <a:endParaRPr sz="1400" b="0" i="0" u="none" strike="noStrike" cap="none">
              <a:solidFill>
                <a:srgbClr val="000000"/>
              </a:solidFill>
              <a:latin typeface="Arial"/>
              <a:ea typeface="Arial"/>
              <a:cs typeface="Arial"/>
              <a:sym typeface="Arial"/>
            </a:endParaRPr>
          </a:p>
        </p:txBody>
      </p:sp>
      <p:sp>
        <p:nvSpPr>
          <p:cNvPr id="60" name="Google Shape;60;p4"/>
          <p:cNvSpPr/>
          <p:nvPr/>
        </p:nvSpPr>
        <p:spPr>
          <a:xfrm>
            <a:off x="1485900" y="3305175"/>
            <a:ext cx="3476625" cy="457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1" i="0" u="none" strike="noStrike" cap="none">
                <a:solidFill>
                  <a:srgbClr val="F5F8F7"/>
                </a:solidFill>
                <a:latin typeface="Arial"/>
                <a:ea typeface="Arial"/>
                <a:cs typeface="Arial"/>
                <a:sym typeface="Arial"/>
              </a:rPr>
              <a:t>Capture and retain</a:t>
            </a:r>
            <a:endParaRPr sz="1400" b="0" i="0" u="none" strike="noStrike" cap="none">
              <a:solidFill>
                <a:srgbClr val="000000"/>
              </a:solidFill>
              <a:latin typeface="Arial"/>
              <a:ea typeface="Arial"/>
              <a:cs typeface="Arial"/>
              <a:sym typeface="Arial"/>
            </a:endParaRPr>
          </a:p>
        </p:txBody>
      </p:sp>
      <p:sp>
        <p:nvSpPr>
          <p:cNvPr id="61" name="Google Shape;61;p4"/>
          <p:cNvSpPr/>
          <p:nvPr/>
        </p:nvSpPr>
        <p:spPr>
          <a:xfrm>
            <a:off x="5238750" y="3305175"/>
            <a:ext cx="6048375" cy="7429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75"/>
              <a:buFont typeface="Arial"/>
              <a:buNone/>
            </a:pPr>
            <a:r>
              <a:rPr lang="en-US" sz="1875" b="0" i="0" u="none" strike="noStrike" cap="none">
                <a:solidFill>
                  <a:srgbClr val="A7B9BD"/>
                </a:solidFill>
                <a:latin typeface="Arial"/>
                <a:ea typeface="Arial"/>
                <a:cs typeface="Arial"/>
                <a:sym typeface="Arial"/>
              </a:rPr>
              <a:t>Video and thermal-array acquisition, server storage and remote access.</a:t>
            </a:r>
            <a:endParaRPr sz="1400" b="0" i="0" u="none" strike="noStrike" cap="none">
              <a:solidFill>
                <a:srgbClr val="000000"/>
              </a:solidFill>
              <a:latin typeface="Arial"/>
              <a:ea typeface="Arial"/>
              <a:cs typeface="Arial"/>
              <a:sym typeface="Arial"/>
            </a:endParaRPr>
          </a:p>
        </p:txBody>
      </p:sp>
      <p:sp>
        <p:nvSpPr>
          <p:cNvPr id="62" name="Google Shape;62;p4"/>
          <p:cNvSpPr/>
          <p:nvPr/>
        </p:nvSpPr>
        <p:spPr>
          <a:xfrm>
            <a:off x="609600" y="4200525"/>
            <a:ext cx="714375" cy="4762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75"/>
              <a:buFont typeface="Arial"/>
              <a:buNone/>
            </a:pPr>
            <a:r>
              <a:rPr lang="en-US" sz="2175" b="1" i="0" u="none" strike="noStrike" cap="none">
                <a:solidFill>
                  <a:srgbClr val="60DDE5"/>
                </a:solidFill>
                <a:latin typeface="Arial"/>
                <a:ea typeface="Arial"/>
                <a:cs typeface="Arial"/>
                <a:sym typeface="Arial"/>
              </a:rPr>
              <a:t>02</a:t>
            </a:r>
            <a:endParaRPr sz="1400" b="0" i="0" u="none" strike="noStrike" cap="none">
              <a:solidFill>
                <a:srgbClr val="000000"/>
              </a:solidFill>
              <a:latin typeface="Arial"/>
              <a:ea typeface="Arial"/>
              <a:cs typeface="Arial"/>
              <a:sym typeface="Arial"/>
            </a:endParaRPr>
          </a:p>
        </p:txBody>
      </p:sp>
      <p:sp>
        <p:nvSpPr>
          <p:cNvPr id="63" name="Google Shape;63;p4"/>
          <p:cNvSpPr/>
          <p:nvPr/>
        </p:nvSpPr>
        <p:spPr>
          <a:xfrm>
            <a:off x="1485900" y="4200525"/>
            <a:ext cx="3476625" cy="457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1" i="0" u="none" strike="noStrike" cap="none">
                <a:solidFill>
                  <a:srgbClr val="F5F8F7"/>
                </a:solidFill>
                <a:latin typeface="Arial"/>
                <a:ea typeface="Arial"/>
                <a:cs typeface="Arial"/>
                <a:sym typeface="Arial"/>
              </a:rPr>
              <a:t>Identify and locate</a:t>
            </a:r>
            <a:endParaRPr sz="1400" b="0" i="0" u="none" strike="noStrike" cap="none">
              <a:solidFill>
                <a:srgbClr val="000000"/>
              </a:solidFill>
              <a:latin typeface="Arial"/>
              <a:ea typeface="Arial"/>
              <a:cs typeface="Arial"/>
              <a:sym typeface="Arial"/>
            </a:endParaRPr>
          </a:p>
        </p:txBody>
      </p:sp>
      <p:sp>
        <p:nvSpPr>
          <p:cNvPr id="64" name="Google Shape;64;p4"/>
          <p:cNvSpPr/>
          <p:nvPr/>
        </p:nvSpPr>
        <p:spPr>
          <a:xfrm>
            <a:off x="5238750" y="4200525"/>
            <a:ext cx="6048375" cy="7429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75"/>
              <a:buFont typeface="Arial"/>
              <a:buNone/>
            </a:pPr>
            <a:r>
              <a:rPr lang="en-US" sz="1875" b="0" i="0" u="none" strike="noStrike" cap="none">
                <a:solidFill>
                  <a:srgbClr val="A7B9BD"/>
                </a:solidFill>
                <a:latin typeface="Arial"/>
                <a:ea typeface="Arial"/>
                <a:cs typeface="Arial"/>
                <a:sym typeface="Arial"/>
              </a:rPr>
              <a:t>Explore pattern-based identity and locate the gecko in the image.</a:t>
            </a:r>
            <a:endParaRPr sz="1400" b="0" i="0" u="none" strike="noStrike" cap="none">
              <a:solidFill>
                <a:srgbClr val="000000"/>
              </a:solidFill>
              <a:latin typeface="Arial"/>
              <a:ea typeface="Arial"/>
              <a:cs typeface="Arial"/>
              <a:sym typeface="Arial"/>
            </a:endParaRPr>
          </a:p>
        </p:txBody>
      </p:sp>
      <p:sp>
        <p:nvSpPr>
          <p:cNvPr id="65" name="Google Shape;65;p4"/>
          <p:cNvSpPr/>
          <p:nvPr/>
        </p:nvSpPr>
        <p:spPr>
          <a:xfrm>
            <a:off x="609600" y="5095875"/>
            <a:ext cx="714375" cy="4762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75"/>
              <a:buFont typeface="Arial"/>
              <a:buNone/>
            </a:pPr>
            <a:r>
              <a:rPr lang="en-US" sz="2175" b="1" i="0" u="none" strike="noStrike" cap="none">
                <a:solidFill>
                  <a:srgbClr val="60DDE5"/>
                </a:solidFill>
                <a:latin typeface="Arial"/>
                <a:ea typeface="Arial"/>
                <a:cs typeface="Arial"/>
                <a:sym typeface="Arial"/>
              </a:rPr>
              <a:t>03</a:t>
            </a:r>
            <a:endParaRPr sz="1400" b="0" i="0" u="none" strike="noStrike" cap="none">
              <a:solidFill>
                <a:srgbClr val="000000"/>
              </a:solidFill>
              <a:latin typeface="Arial"/>
              <a:ea typeface="Arial"/>
              <a:cs typeface="Arial"/>
              <a:sym typeface="Arial"/>
            </a:endParaRPr>
          </a:p>
        </p:txBody>
      </p:sp>
      <p:sp>
        <p:nvSpPr>
          <p:cNvPr id="66" name="Google Shape;66;p4"/>
          <p:cNvSpPr/>
          <p:nvPr/>
        </p:nvSpPr>
        <p:spPr>
          <a:xfrm>
            <a:off x="1485900" y="5095875"/>
            <a:ext cx="3476625" cy="457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1" i="0" u="none" strike="noStrike" cap="none">
                <a:solidFill>
                  <a:srgbClr val="F5F8F7"/>
                </a:solidFill>
                <a:latin typeface="Arial"/>
                <a:ea typeface="Arial"/>
                <a:cs typeface="Arial"/>
                <a:sym typeface="Arial"/>
              </a:rPr>
              <a:t>Organize and share</a:t>
            </a:r>
            <a:endParaRPr sz="1400" b="0" i="0" u="none" strike="noStrike" cap="none">
              <a:solidFill>
                <a:srgbClr val="000000"/>
              </a:solidFill>
              <a:latin typeface="Arial"/>
              <a:ea typeface="Arial"/>
              <a:cs typeface="Arial"/>
              <a:sym typeface="Arial"/>
            </a:endParaRPr>
          </a:p>
        </p:txBody>
      </p:sp>
      <p:sp>
        <p:nvSpPr>
          <p:cNvPr id="67" name="Google Shape;67;p4"/>
          <p:cNvSpPr/>
          <p:nvPr/>
        </p:nvSpPr>
        <p:spPr>
          <a:xfrm>
            <a:off x="5238750" y="5095875"/>
            <a:ext cx="6048375" cy="7429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75"/>
              <a:buFont typeface="Arial"/>
              <a:buNone/>
            </a:pPr>
            <a:r>
              <a:rPr lang="en-US" sz="1875" b="0" i="0" u="none" strike="noStrike" cap="none">
                <a:solidFill>
                  <a:srgbClr val="A7B9BD"/>
                </a:solidFill>
                <a:latin typeface="Arial"/>
                <a:ea typeface="Arial"/>
                <a:cs typeface="Arial"/>
                <a:sym typeface="Arial"/>
              </a:rPr>
              <a:t>Associate records and analysis with time, region and the shared interface.</a:t>
            </a:r>
            <a:endParaRPr sz="1400" b="0" i="0" u="none" strike="noStrike" cap="none">
              <a:solidFill>
                <a:srgbClr val="000000"/>
              </a:solidFill>
              <a:latin typeface="Arial"/>
              <a:ea typeface="Arial"/>
              <a:cs typeface="Arial"/>
              <a:sym typeface="Arial"/>
            </a:endParaRPr>
          </a:p>
        </p:txBody>
      </p:sp>
      <p:sp>
        <p:nvSpPr>
          <p:cNvPr id="68" name="Google Shape;68;p4"/>
          <p:cNvSpPr/>
          <p:nvPr/>
        </p:nvSpPr>
        <p:spPr>
          <a:xfrm>
            <a:off x="1485900" y="6191250"/>
            <a:ext cx="9525000" cy="2857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350"/>
              <a:buFont typeface="Arial"/>
              <a:buNone/>
            </a:pPr>
            <a:r>
              <a:rPr lang="en-US" sz="1350" b="0" i="0" u="none" strike="noStrike" cap="none">
                <a:solidFill>
                  <a:srgbClr val="A7B9BD"/>
                </a:solidFill>
                <a:latin typeface="Arial"/>
                <a:ea typeface="Arial"/>
                <a:cs typeface="Arial"/>
                <a:sym typeface="Arial"/>
              </a:rPr>
              <a:t>Individual identification remains subject to experimental validation.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73"/>
        <p:cNvGrpSpPr/>
        <p:nvPr/>
      </p:nvGrpSpPr>
      <p:grpSpPr>
        <a:xfrm>
          <a:off x="0" y="0"/>
          <a:ext cx="0" cy="0"/>
          <a:chOff x="0" y="0"/>
          <a:chExt cx="0" cy="0"/>
        </a:xfrm>
      </p:grpSpPr>
      <p:sp>
        <p:nvSpPr>
          <p:cNvPr id="74" name="Google Shape;74;p5"/>
          <p:cNvSpPr/>
          <p:nvPr/>
        </p:nvSpPr>
        <p:spPr>
          <a:xfrm>
            <a:off x="609600" y="342900"/>
            <a:ext cx="95250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60DDE5"/>
                </a:solidFill>
                <a:latin typeface="Arial"/>
                <a:ea typeface="Arial"/>
                <a:cs typeface="Arial"/>
                <a:sym typeface="Arial"/>
              </a:rPr>
              <a:t>A  PROJECT SCOPE</a:t>
            </a:r>
            <a:endParaRPr sz="1400" b="0" i="0" u="none" strike="noStrike" cap="none">
              <a:solidFill>
                <a:srgbClr val="000000"/>
              </a:solidFill>
              <a:latin typeface="Arial"/>
              <a:ea typeface="Arial"/>
              <a:cs typeface="Arial"/>
              <a:sym typeface="Arial"/>
            </a:endParaRPr>
          </a:p>
        </p:txBody>
      </p:sp>
      <p:sp>
        <p:nvSpPr>
          <p:cNvPr id="75" name="Google Shape;75;p5"/>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3450"/>
              <a:buFont typeface="Arial"/>
              <a:buNone/>
            </a:pPr>
            <a:r>
              <a:rPr lang="en-US" sz="3450" b="1" i="0" u="none" strike="noStrike" cap="none" dirty="0">
                <a:solidFill>
                  <a:srgbClr val="C6F36B"/>
                </a:solidFill>
                <a:latin typeface="Arial"/>
                <a:ea typeface="Arial"/>
                <a:cs typeface="Arial"/>
                <a:sym typeface="Arial"/>
              </a:rPr>
              <a:t>Behavior observation</a:t>
            </a:r>
            <a:endParaRPr sz="1400" b="0" i="0" u="none" strike="noStrike" cap="none" dirty="0">
              <a:solidFill>
                <a:srgbClr val="C6F36B"/>
              </a:solidFill>
              <a:latin typeface="Arial"/>
              <a:ea typeface="Arial"/>
              <a:cs typeface="Arial"/>
              <a:sym typeface="Arial"/>
            </a:endParaRPr>
          </a:p>
        </p:txBody>
      </p:sp>
      <p:sp>
        <p:nvSpPr>
          <p:cNvPr id="76" name="Google Shape;76;p5"/>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125"/>
              <a:buFont typeface="Arial"/>
              <a:buNone/>
            </a:pPr>
            <a:r>
              <a:rPr lang="en-US" sz="1125" b="0" i="0" u="none" strike="noStrike" cap="none">
                <a:solidFill>
                  <a:srgbClr val="A7B9BD"/>
                </a:solidFill>
                <a:latin typeface="Arial"/>
                <a:ea typeface="Arial"/>
                <a:cs typeface="Arial"/>
                <a:sym typeface="Arial"/>
              </a:rPr>
              <a:t>05</a:t>
            </a:r>
            <a:endParaRPr sz="1400" b="0" i="0" u="none" strike="noStrike" cap="none">
              <a:solidFill>
                <a:srgbClr val="000000"/>
              </a:solidFill>
              <a:latin typeface="Arial"/>
              <a:ea typeface="Arial"/>
              <a:cs typeface="Arial"/>
              <a:sym typeface="Arial"/>
            </a:endParaRPr>
          </a:p>
        </p:txBody>
      </p:sp>
      <p:sp>
        <p:nvSpPr>
          <p:cNvPr id="77" name="Google Shape;77;p5"/>
          <p:cNvSpPr/>
          <p:nvPr/>
        </p:nvSpPr>
        <p:spPr>
          <a:xfrm>
            <a:off x="609600" y="2057400"/>
            <a:ext cx="5476875" cy="571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325"/>
              <a:buFont typeface="Arial"/>
              <a:buNone/>
            </a:pPr>
            <a:r>
              <a:rPr lang="en-US" sz="2325" b="1" i="0" u="none" strike="noStrike" cap="none">
                <a:solidFill>
                  <a:srgbClr val="F5F8F7"/>
                </a:solidFill>
                <a:latin typeface="Arial"/>
                <a:ea typeface="Arial"/>
                <a:cs typeface="Arial"/>
                <a:sym typeface="Arial"/>
              </a:rPr>
              <a:t>Activity and stillness</a:t>
            </a:r>
            <a:endParaRPr sz="1400" b="0" i="0" u="none" strike="noStrike" cap="none">
              <a:solidFill>
                <a:srgbClr val="000000"/>
              </a:solidFill>
              <a:latin typeface="Arial"/>
              <a:ea typeface="Arial"/>
              <a:cs typeface="Arial"/>
              <a:sym typeface="Arial"/>
            </a:endParaRPr>
          </a:p>
        </p:txBody>
      </p:sp>
      <p:sp>
        <p:nvSpPr>
          <p:cNvPr id="78" name="Google Shape;78;p5"/>
          <p:cNvSpPr/>
          <p:nvPr/>
        </p:nvSpPr>
        <p:spPr>
          <a:xfrm>
            <a:off x="6572250" y="2057400"/>
            <a:ext cx="4953000"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025"/>
              <a:buFont typeface="Arial"/>
              <a:buNone/>
            </a:pPr>
            <a:r>
              <a:rPr lang="en-US" sz="2025" b="0" i="0" u="none" strike="noStrike" cap="none">
                <a:solidFill>
                  <a:srgbClr val="A7B9BD"/>
                </a:solidFill>
                <a:latin typeface="Arial"/>
                <a:ea typeface="Arial"/>
                <a:cs typeface="Arial"/>
                <a:sym typeface="Arial"/>
              </a:rPr>
              <a:t>Location, movement and changes in activity.</a:t>
            </a:r>
            <a:endParaRPr sz="1400" b="0" i="0" u="none" strike="noStrike" cap="none">
              <a:solidFill>
                <a:srgbClr val="000000"/>
              </a:solidFill>
              <a:latin typeface="Arial"/>
              <a:ea typeface="Arial"/>
              <a:cs typeface="Arial"/>
              <a:sym typeface="Arial"/>
            </a:endParaRPr>
          </a:p>
        </p:txBody>
      </p:sp>
      <p:sp>
        <p:nvSpPr>
          <p:cNvPr id="79" name="Google Shape;79;p5"/>
          <p:cNvSpPr/>
          <p:nvPr/>
        </p:nvSpPr>
        <p:spPr>
          <a:xfrm>
            <a:off x="609600" y="3314700"/>
            <a:ext cx="5476875" cy="571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325"/>
              <a:buFont typeface="Arial"/>
              <a:buNone/>
            </a:pPr>
            <a:r>
              <a:rPr lang="en-US" sz="2325" b="1" i="0" u="none" strike="noStrike" cap="none">
                <a:solidFill>
                  <a:srgbClr val="F5F8F7"/>
                </a:solidFill>
                <a:latin typeface="Arial"/>
                <a:ea typeface="Arial"/>
                <a:cs typeface="Arial"/>
                <a:sym typeface="Arial"/>
              </a:rPr>
              <a:t>Hide and region use</a:t>
            </a:r>
            <a:endParaRPr sz="1400" b="0" i="0" u="none" strike="noStrike" cap="none">
              <a:solidFill>
                <a:srgbClr val="000000"/>
              </a:solidFill>
              <a:latin typeface="Arial"/>
              <a:ea typeface="Arial"/>
              <a:cs typeface="Arial"/>
              <a:sym typeface="Arial"/>
            </a:endParaRPr>
          </a:p>
        </p:txBody>
      </p:sp>
      <p:sp>
        <p:nvSpPr>
          <p:cNvPr id="80" name="Google Shape;80;p5"/>
          <p:cNvSpPr/>
          <p:nvPr/>
        </p:nvSpPr>
        <p:spPr>
          <a:xfrm>
            <a:off x="6572250" y="3314700"/>
            <a:ext cx="4953000"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025"/>
              <a:buFont typeface="Arial"/>
              <a:buNone/>
            </a:pPr>
            <a:r>
              <a:rPr lang="en-US" sz="2025" b="0" i="0" u="none" strike="noStrike" cap="none">
                <a:solidFill>
                  <a:srgbClr val="A7B9BD"/>
                </a:solidFill>
                <a:latin typeface="Arial"/>
                <a:ea typeface="Arial"/>
                <a:cs typeface="Arial"/>
                <a:sym typeface="Arial"/>
              </a:rPr>
              <a:t>Entry and exit, hiding, and time spent in heating and humid areas.</a:t>
            </a:r>
            <a:endParaRPr sz="1400" b="0" i="0" u="none" strike="noStrike" cap="none">
              <a:solidFill>
                <a:srgbClr val="000000"/>
              </a:solidFill>
              <a:latin typeface="Arial"/>
              <a:ea typeface="Arial"/>
              <a:cs typeface="Arial"/>
              <a:sym typeface="Arial"/>
            </a:endParaRPr>
          </a:p>
        </p:txBody>
      </p:sp>
      <p:sp>
        <p:nvSpPr>
          <p:cNvPr id="81" name="Google Shape;81;p5"/>
          <p:cNvSpPr/>
          <p:nvPr/>
        </p:nvSpPr>
        <p:spPr>
          <a:xfrm>
            <a:off x="609600" y="4572000"/>
            <a:ext cx="5476875" cy="571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325"/>
              <a:buFont typeface="Arial"/>
              <a:buNone/>
            </a:pPr>
            <a:r>
              <a:rPr lang="en-US" sz="2325" b="1" i="0" u="none" strike="noStrike" cap="none" dirty="0">
                <a:solidFill>
                  <a:schemeClr val="bg1"/>
                </a:solidFill>
                <a:latin typeface="Arial"/>
                <a:ea typeface="Arial"/>
                <a:cs typeface="Arial"/>
                <a:sym typeface="Arial"/>
              </a:rPr>
              <a:t>Feeding, drinking and defecation</a:t>
            </a:r>
            <a:endParaRPr sz="1400" b="0" i="0" u="none" strike="noStrike" cap="none" dirty="0">
              <a:solidFill>
                <a:schemeClr val="bg1"/>
              </a:solidFill>
              <a:latin typeface="Arial"/>
              <a:ea typeface="Arial"/>
              <a:cs typeface="Arial"/>
              <a:sym typeface="Arial"/>
            </a:endParaRPr>
          </a:p>
        </p:txBody>
      </p:sp>
      <p:sp>
        <p:nvSpPr>
          <p:cNvPr id="82" name="Google Shape;82;p5"/>
          <p:cNvSpPr/>
          <p:nvPr/>
        </p:nvSpPr>
        <p:spPr>
          <a:xfrm>
            <a:off x="6572250" y="4572000"/>
            <a:ext cx="4953000"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025"/>
              <a:buFont typeface="Arial"/>
              <a:buNone/>
            </a:pPr>
            <a:r>
              <a:rPr lang="en-US" sz="2025" b="0" i="0" u="none" strike="noStrike" cap="none">
                <a:solidFill>
                  <a:srgbClr val="A7B9BD"/>
                </a:solidFill>
                <a:latin typeface="Arial"/>
                <a:ea typeface="Arial"/>
                <a:cs typeface="Arial"/>
                <a:sym typeface="Arial"/>
              </a:rPr>
              <a:t>Timestamp candidate clips for students to replay and confirm.</a:t>
            </a:r>
            <a:endParaRPr sz="1400" b="0" i="0" u="none" strike="noStrike" cap="none">
              <a:solidFill>
                <a:srgbClr val="000000"/>
              </a:solidFill>
              <a:latin typeface="Arial"/>
              <a:ea typeface="Arial"/>
              <a:cs typeface="Arial"/>
              <a:sym typeface="Arial"/>
            </a:endParaRPr>
          </a:p>
        </p:txBody>
      </p:sp>
      <p:sp>
        <p:nvSpPr>
          <p:cNvPr id="83" name="Google Shape;83;p5"/>
          <p:cNvSpPr/>
          <p:nvPr/>
        </p:nvSpPr>
        <p:spPr>
          <a:xfrm>
            <a:off x="609600" y="6191250"/>
            <a:ext cx="106680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725"/>
              <a:buFont typeface="Arial"/>
              <a:buNone/>
            </a:pPr>
            <a:r>
              <a:rPr lang="en-US" sz="1725" b="0" i="0" u="none" strike="noStrike" cap="none">
                <a:solidFill>
                  <a:srgbClr val="60DDE5"/>
                </a:solidFill>
                <a:latin typeface="Arial"/>
                <a:ea typeface="Arial"/>
                <a:cs typeface="Arial"/>
                <a:sym typeface="Arial"/>
              </a:rPr>
              <a:t>The timeline connects every event to evidence that users can review.</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88"/>
        <p:cNvGrpSpPr/>
        <p:nvPr/>
      </p:nvGrpSpPr>
      <p:grpSpPr>
        <a:xfrm>
          <a:off x="0" y="0"/>
          <a:ext cx="0" cy="0"/>
          <a:chOff x="0" y="0"/>
          <a:chExt cx="0" cy="0"/>
        </a:xfrm>
      </p:grpSpPr>
      <p:sp>
        <p:nvSpPr>
          <p:cNvPr id="89" name="Google Shape;89;p6"/>
          <p:cNvSpPr/>
          <p:nvPr/>
        </p:nvSpPr>
        <p:spPr>
          <a:xfrm>
            <a:off x="609600" y="342900"/>
            <a:ext cx="95250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60DDE5"/>
                </a:solidFill>
                <a:latin typeface="Arial"/>
                <a:ea typeface="Arial"/>
                <a:cs typeface="Arial"/>
                <a:sym typeface="Arial"/>
              </a:rPr>
              <a:t>A  PROJECT SCOPE</a:t>
            </a:r>
            <a:endParaRPr sz="1400" b="0" i="0" u="none" strike="noStrike" cap="none">
              <a:solidFill>
                <a:srgbClr val="000000"/>
              </a:solidFill>
              <a:latin typeface="Arial"/>
              <a:ea typeface="Arial"/>
              <a:cs typeface="Arial"/>
              <a:sym typeface="Arial"/>
            </a:endParaRPr>
          </a:p>
        </p:txBody>
      </p:sp>
      <p:sp>
        <p:nvSpPr>
          <p:cNvPr id="90" name="Google Shape;90;p6"/>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3450"/>
              <a:buFont typeface="Arial"/>
              <a:buNone/>
            </a:pPr>
            <a:r>
              <a:rPr lang="en-US" sz="3450" b="1" i="0" u="none" strike="noStrike" cap="none">
                <a:solidFill>
                  <a:srgbClr val="F5F8F7"/>
                </a:solidFill>
                <a:latin typeface="Arial"/>
                <a:ea typeface="Arial"/>
                <a:cs typeface="Arial"/>
                <a:sym typeface="Arial"/>
              </a:rPr>
              <a:t>Thermal observation</a:t>
            </a:r>
            <a:endParaRPr sz="1400" b="0" i="0" u="none" strike="noStrike" cap="none">
              <a:solidFill>
                <a:srgbClr val="000000"/>
              </a:solidFill>
              <a:latin typeface="Arial"/>
              <a:ea typeface="Arial"/>
              <a:cs typeface="Arial"/>
              <a:sym typeface="Arial"/>
            </a:endParaRPr>
          </a:p>
        </p:txBody>
      </p:sp>
      <p:sp>
        <p:nvSpPr>
          <p:cNvPr id="91" name="Google Shape;91;p6"/>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125"/>
              <a:buFont typeface="Arial"/>
              <a:buNone/>
            </a:pPr>
            <a:r>
              <a:rPr lang="en-US" sz="1125" b="0" i="0" u="none" strike="noStrike" cap="none">
                <a:solidFill>
                  <a:srgbClr val="A7B9BD"/>
                </a:solidFill>
                <a:latin typeface="Arial"/>
                <a:ea typeface="Arial"/>
                <a:cs typeface="Arial"/>
                <a:sym typeface="Arial"/>
              </a:rPr>
              <a:t>06</a:t>
            </a:r>
            <a:endParaRPr sz="1400" b="0" i="0" u="none" strike="noStrike" cap="none">
              <a:solidFill>
                <a:srgbClr val="000000"/>
              </a:solidFill>
              <a:latin typeface="Arial"/>
              <a:ea typeface="Arial"/>
              <a:cs typeface="Arial"/>
              <a:sym typeface="Arial"/>
            </a:endParaRPr>
          </a:p>
        </p:txBody>
      </p:sp>
      <p:pic>
        <p:nvPicPr>
          <p:cNvPr id="92" name="Google Shape;92;p6"/>
          <p:cNvPicPr preferRelativeResize="0"/>
          <p:nvPr/>
        </p:nvPicPr>
        <p:blipFill rotWithShape="1">
          <a:blip r:embed="rId3">
            <a:alphaModFix/>
          </a:blip>
          <a:srcRect t="30" r="11253" b="20"/>
          <a:stretch/>
        </p:blipFill>
        <p:spPr>
          <a:xfrm>
            <a:off x="1371600" y="0"/>
            <a:ext cx="10820398" cy="6858001"/>
          </a:xfrm>
          <a:prstGeom prst="rect">
            <a:avLst/>
          </a:prstGeom>
          <a:noFill/>
          <a:ln>
            <a:noFill/>
          </a:ln>
        </p:spPr>
      </p:pic>
      <p:sp>
        <p:nvSpPr>
          <p:cNvPr id="93" name="Google Shape;93;p6"/>
          <p:cNvSpPr/>
          <p:nvPr/>
        </p:nvSpPr>
        <p:spPr>
          <a:xfrm>
            <a:off x="609600" y="342900"/>
            <a:ext cx="904875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60DDE5"/>
                </a:solidFill>
                <a:latin typeface="Arial"/>
                <a:ea typeface="Arial"/>
                <a:cs typeface="Arial"/>
                <a:sym typeface="Arial"/>
              </a:rPr>
              <a:t>A  PROJECT SCOPE</a:t>
            </a:r>
            <a:endParaRPr sz="1400" b="0" i="0" u="none" strike="noStrike" cap="none">
              <a:solidFill>
                <a:srgbClr val="000000"/>
              </a:solidFill>
              <a:latin typeface="Arial"/>
              <a:ea typeface="Arial"/>
              <a:cs typeface="Arial"/>
              <a:sym typeface="Arial"/>
            </a:endParaRPr>
          </a:p>
        </p:txBody>
      </p:sp>
      <p:sp>
        <p:nvSpPr>
          <p:cNvPr id="94" name="Google Shape;94;p6"/>
          <p:cNvSpPr/>
          <p:nvPr/>
        </p:nvSpPr>
        <p:spPr>
          <a:xfrm>
            <a:off x="609600" y="828675"/>
            <a:ext cx="9525000" cy="7620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3450"/>
              <a:buFont typeface="Arial"/>
              <a:buNone/>
            </a:pPr>
            <a:r>
              <a:rPr lang="en-US" sz="3450" b="1" i="0" u="none" strike="noStrike" cap="none">
                <a:solidFill>
                  <a:srgbClr val="F5F8F7"/>
                </a:solidFill>
                <a:latin typeface="Arial"/>
                <a:ea typeface="Arial"/>
                <a:cs typeface="Arial"/>
                <a:sym typeface="Arial"/>
              </a:rPr>
              <a:t>Thermal observation</a:t>
            </a:r>
            <a:endParaRPr sz="1400" b="0" i="0" u="none" strike="noStrike" cap="none">
              <a:solidFill>
                <a:srgbClr val="000000"/>
              </a:solidFill>
              <a:latin typeface="Arial"/>
              <a:ea typeface="Arial"/>
              <a:cs typeface="Arial"/>
              <a:sym typeface="Arial"/>
            </a:endParaRPr>
          </a:p>
        </p:txBody>
      </p:sp>
      <p:sp>
        <p:nvSpPr>
          <p:cNvPr id="95" name="Google Shape;95;p6"/>
          <p:cNvSpPr/>
          <p:nvPr/>
        </p:nvSpPr>
        <p:spPr>
          <a:xfrm>
            <a:off x="609600" y="2066925"/>
            <a:ext cx="7810500" cy="114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rgbClr val="C6F36B"/>
                </a:solidFill>
                <a:latin typeface="Arial"/>
                <a:ea typeface="Arial"/>
                <a:cs typeface="Arial"/>
                <a:sym typeface="Arial"/>
              </a:rPr>
              <a:t>Surface temperature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rgbClr val="C6F36B"/>
                </a:solidFill>
                <a:latin typeface="Arial"/>
                <a:ea typeface="Arial"/>
                <a:cs typeface="Arial"/>
                <a:sym typeface="Arial"/>
              </a:rPr>
              <a:t>during valid visible periods</a:t>
            </a:r>
            <a:endParaRPr sz="1400" b="0" i="0" u="none" strike="noStrike" cap="none">
              <a:solidFill>
                <a:srgbClr val="000000"/>
              </a:solidFill>
              <a:latin typeface="Arial"/>
              <a:ea typeface="Arial"/>
              <a:cs typeface="Arial"/>
              <a:sym typeface="Arial"/>
            </a:endParaRPr>
          </a:p>
        </p:txBody>
      </p:sp>
      <p:sp>
        <p:nvSpPr>
          <p:cNvPr id="96" name="Google Shape;96;p6"/>
          <p:cNvSpPr/>
          <p:nvPr/>
        </p:nvSpPr>
        <p:spPr>
          <a:xfrm>
            <a:off x="609600" y="3714750"/>
            <a:ext cx="7048500"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75"/>
              <a:buFont typeface="Arial"/>
              <a:buNone/>
            </a:pPr>
            <a:r>
              <a:rPr lang="en-US" sz="2175" b="0" i="0" u="none" strike="noStrike" cap="none">
                <a:solidFill>
                  <a:srgbClr val="F5F8F7"/>
                </a:solidFill>
                <a:latin typeface="Arial"/>
                <a:ea typeface="Arial"/>
                <a:cs typeface="Arial"/>
                <a:sym typeface="Arial"/>
              </a:rPr>
              <a:t>Associate thermal records with the gecko’s location, behavior and environmental temperature.</a:t>
            </a:r>
            <a:endParaRPr sz="1400" b="0" i="0" u="none" strike="noStrike" cap="none">
              <a:solidFill>
                <a:srgbClr val="000000"/>
              </a:solidFill>
              <a:latin typeface="Arial"/>
              <a:ea typeface="Arial"/>
              <a:cs typeface="Arial"/>
              <a:sym typeface="Arial"/>
            </a:endParaRPr>
          </a:p>
        </p:txBody>
      </p:sp>
      <p:sp>
        <p:nvSpPr>
          <p:cNvPr id="97" name="Google Shape;97;p6"/>
          <p:cNvSpPr/>
          <p:nvPr/>
        </p:nvSpPr>
        <p:spPr>
          <a:xfrm>
            <a:off x="609600" y="5219700"/>
            <a:ext cx="6858000" cy="8572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75"/>
              <a:buFont typeface="Arial"/>
              <a:buNone/>
            </a:pPr>
            <a:r>
              <a:rPr lang="en-US" sz="1875" b="0" i="0" u="none" strike="noStrike" cap="none">
                <a:solidFill>
                  <a:srgbClr val="A7B9BD"/>
                </a:solidFill>
                <a:latin typeface="Arial"/>
                <a:ea typeface="Arial"/>
                <a:cs typeface="Arial"/>
                <a:sym typeface="Arial"/>
              </a:rPr>
              <a:t>Validate measurement performance experimentally.</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75"/>
              <a:buFont typeface="Arial"/>
              <a:buNone/>
            </a:pPr>
            <a:r>
              <a:rPr lang="en-US" sz="1875" b="0" i="0" u="none" strike="noStrike" cap="none">
                <a:solidFill>
                  <a:srgbClr val="A7B9BD"/>
                </a:solidFill>
                <a:latin typeface="Arial"/>
                <a:ea typeface="Arial"/>
                <a:cs typeface="Arial"/>
                <a:sym typeface="Arial"/>
              </a:rPr>
              <a:t>Retain gaps when measurement is not possible.</a:t>
            </a:r>
            <a:endParaRPr sz="1400" b="0" i="0" u="none" strike="noStrike" cap="none">
              <a:solidFill>
                <a:srgbClr val="000000"/>
              </a:solidFill>
              <a:latin typeface="Arial"/>
              <a:ea typeface="Arial"/>
              <a:cs typeface="Arial"/>
              <a:sym typeface="Arial"/>
            </a:endParaRPr>
          </a:p>
        </p:txBody>
      </p:sp>
      <p:sp>
        <p:nvSpPr>
          <p:cNvPr id="98" name="Google Shape;98;p6"/>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125"/>
              <a:buFont typeface="Arial"/>
              <a:buNone/>
            </a:pPr>
            <a:r>
              <a:rPr lang="en-US" sz="1125" b="0" i="0" u="none" strike="noStrike" cap="none">
                <a:solidFill>
                  <a:srgbClr val="A7B9BD"/>
                </a:solidFill>
                <a:latin typeface="Arial"/>
                <a:ea typeface="Arial"/>
                <a:cs typeface="Arial"/>
                <a:sym typeface="Arial"/>
              </a:rPr>
              <a:t>06</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03"/>
        <p:cNvGrpSpPr/>
        <p:nvPr/>
      </p:nvGrpSpPr>
      <p:grpSpPr>
        <a:xfrm>
          <a:off x="0" y="0"/>
          <a:ext cx="0" cy="0"/>
          <a:chOff x="0" y="0"/>
          <a:chExt cx="0" cy="0"/>
        </a:xfrm>
      </p:grpSpPr>
      <p:sp>
        <p:nvSpPr>
          <p:cNvPr id="104" name="Google Shape;104;p7"/>
          <p:cNvSpPr/>
          <p:nvPr/>
        </p:nvSpPr>
        <p:spPr>
          <a:xfrm>
            <a:off x="609600" y="342900"/>
            <a:ext cx="95250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60DDE5"/>
                </a:solidFill>
                <a:latin typeface="Arial"/>
                <a:ea typeface="Arial"/>
                <a:cs typeface="Arial"/>
                <a:sym typeface="Arial"/>
              </a:rPr>
              <a:t>A  PROJECT SCOPE</a:t>
            </a:r>
            <a:endParaRPr sz="1400" b="0" i="0" u="none" strike="noStrike" cap="none">
              <a:solidFill>
                <a:srgbClr val="000000"/>
              </a:solidFill>
              <a:latin typeface="Arial"/>
              <a:ea typeface="Arial"/>
              <a:cs typeface="Arial"/>
              <a:sym typeface="Arial"/>
            </a:endParaRPr>
          </a:p>
        </p:txBody>
      </p:sp>
      <p:sp>
        <p:nvSpPr>
          <p:cNvPr id="105" name="Google Shape;105;p7"/>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3450"/>
              <a:buFont typeface="Arial"/>
              <a:buNone/>
            </a:pPr>
            <a:r>
              <a:rPr lang="en-US" sz="3450" b="1" i="0" u="none" strike="noStrike" cap="none">
                <a:solidFill>
                  <a:srgbClr val="F5F8F7"/>
                </a:solidFill>
                <a:latin typeface="Arial"/>
                <a:ea typeface="Arial"/>
                <a:cs typeface="Arial"/>
                <a:sym typeface="Arial"/>
              </a:rPr>
              <a:t>Information students can use</a:t>
            </a:r>
            <a:endParaRPr sz="1400" b="0" i="0" u="none" strike="noStrike" cap="none">
              <a:solidFill>
                <a:srgbClr val="000000"/>
              </a:solidFill>
              <a:latin typeface="Arial"/>
              <a:ea typeface="Arial"/>
              <a:cs typeface="Arial"/>
              <a:sym typeface="Arial"/>
            </a:endParaRPr>
          </a:p>
        </p:txBody>
      </p:sp>
      <p:sp>
        <p:nvSpPr>
          <p:cNvPr id="106" name="Google Shape;106;p7"/>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125"/>
              <a:buFont typeface="Arial"/>
              <a:buNone/>
            </a:pPr>
            <a:r>
              <a:rPr lang="en-US" sz="1125" b="0" i="0" u="none" strike="noStrike" cap="none">
                <a:solidFill>
                  <a:srgbClr val="A7B9BD"/>
                </a:solidFill>
                <a:latin typeface="Arial"/>
                <a:ea typeface="Arial"/>
                <a:cs typeface="Arial"/>
                <a:sym typeface="Arial"/>
              </a:rPr>
              <a:t>07</a:t>
            </a:r>
            <a:endParaRPr sz="1400" b="0" i="0" u="none" strike="noStrike" cap="none">
              <a:solidFill>
                <a:srgbClr val="000000"/>
              </a:solidFill>
              <a:latin typeface="Arial"/>
              <a:ea typeface="Arial"/>
              <a:cs typeface="Arial"/>
              <a:sym typeface="Arial"/>
            </a:endParaRPr>
          </a:p>
        </p:txBody>
      </p:sp>
      <p:sp>
        <p:nvSpPr>
          <p:cNvPr id="107" name="Google Shape;107;p7"/>
          <p:cNvSpPr/>
          <p:nvPr/>
        </p:nvSpPr>
        <p:spPr>
          <a:xfrm>
            <a:off x="609600" y="2085975"/>
            <a:ext cx="5143500" cy="5524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400"/>
              <a:buFont typeface="Arial"/>
              <a:buNone/>
            </a:pPr>
            <a:r>
              <a:rPr lang="en-US" sz="2400" b="1" i="0" u="none" strike="noStrike" cap="none">
                <a:solidFill>
                  <a:srgbClr val="C6F36B"/>
                </a:solidFill>
                <a:latin typeface="Arial"/>
                <a:ea typeface="Arial"/>
                <a:cs typeface="Arial"/>
                <a:sym typeface="Arial"/>
              </a:rPr>
              <a:t>Spatial use</a:t>
            </a:r>
            <a:endParaRPr sz="1400" b="0" i="0" u="none" strike="noStrike" cap="none">
              <a:solidFill>
                <a:srgbClr val="000000"/>
              </a:solidFill>
              <a:latin typeface="Arial"/>
              <a:ea typeface="Arial"/>
              <a:cs typeface="Arial"/>
              <a:sym typeface="Arial"/>
            </a:endParaRPr>
          </a:p>
        </p:txBody>
      </p:sp>
      <p:sp>
        <p:nvSpPr>
          <p:cNvPr id="108" name="Google Shape;108;p7"/>
          <p:cNvSpPr/>
          <p:nvPr/>
        </p:nvSpPr>
        <p:spPr>
          <a:xfrm>
            <a:off x="609600" y="2819400"/>
            <a:ext cx="4905375" cy="105727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0" i="0" u="none" strike="noStrike" cap="none">
                <a:solidFill>
                  <a:srgbClr val="A7B9BD"/>
                </a:solidFill>
                <a:latin typeface="Arial"/>
                <a:ea typeface="Arial"/>
                <a:cs typeface="Arial"/>
                <a:sym typeface="Arial"/>
              </a:rPr>
              <a:t>Dwell-time heatmaps and movement paths.</a:t>
            </a:r>
            <a:endParaRPr sz="1400" b="0" i="0" u="none" strike="noStrike" cap="none">
              <a:solidFill>
                <a:srgbClr val="000000"/>
              </a:solidFill>
              <a:latin typeface="Arial"/>
              <a:ea typeface="Arial"/>
              <a:cs typeface="Arial"/>
              <a:sym typeface="Arial"/>
            </a:endParaRPr>
          </a:p>
        </p:txBody>
      </p:sp>
      <p:sp>
        <p:nvSpPr>
          <p:cNvPr id="109" name="Google Shape;109;p7"/>
          <p:cNvSpPr/>
          <p:nvPr/>
        </p:nvSpPr>
        <p:spPr>
          <a:xfrm>
            <a:off x="6353175" y="2085975"/>
            <a:ext cx="5143500" cy="5524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400"/>
              <a:buFont typeface="Arial"/>
              <a:buNone/>
            </a:pPr>
            <a:r>
              <a:rPr lang="en-US" sz="2400" b="1" i="0" u="none" strike="noStrike" cap="none">
                <a:solidFill>
                  <a:srgbClr val="60DDE5"/>
                </a:solidFill>
                <a:latin typeface="Arial"/>
                <a:ea typeface="Arial"/>
                <a:cs typeface="Arial"/>
                <a:sym typeface="Arial"/>
              </a:rPr>
              <a:t>Behavior timeline</a:t>
            </a:r>
            <a:endParaRPr sz="1400" b="0" i="0" u="none" strike="noStrike" cap="none">
              <a:solidFill>
                <a:srgbClr val="000000"/>
              </a:solidFill>
              <a:latin typeface="Arial"/>
              <a:ea typeface="Arial"/>
              <a:cs typeface="Arial"/>
              <a:sym typeface="Arial"/>
            </a:endParaRPr>
          </a:p>
        </p:txBody>
      </p:sp>
      <p:sp>
        <p:nvSpPr>
          <p:cNvPr id="110" name="Google Shape;110;p7"/>
          <p:cNvSpPr/>
          <p:nvPr/>
        </p:nvSpPr>
        <p:spPr>
          <a:xfrm>
            <a:off x="6353175" y="2819400"/>
            <a:ext cx="4905375" cy="105727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0" i="0" u="none" strike="noStrike" cap="none">
                <a:solidFill>
                  <a:srgbClr val="A7B9BD"/>
                </a:solidFill>
                <a:latin typeface="Arial"/>
                <a:ea typeface="Arial"/>
                <a:cs typeface="Arial"/>
                <a:sym typeface="Arial"/>
              </a:rPr>
              <a:t>Time-stamped events linked to replayable clips.</a:t>
            </a:r>
            <a:endParaRPr sz="1400" b="0" i="0" u="none" strike="noStrike" cap="none">
              <a:solidFill>
                <a:srgbClr val="000000"/>
              </a:solidFill>
              <a:latin typeface="Arial"/>
              <a:ea typeface="Arial"/>
              <a:cs typeface="Arial"/>
              <a:sym typeface="Arial"/>
            </a:endParaRPr>
          </a:p>
        </p:txBody>
      </p:sp>
      <p:sp>
        <p:nvSpPr>
          <p:cNvPr id="111" name="Google Shape;111;p7"/>
          <p:cNvSpPr/>
          <p:nvPr/>
        </p:nvSpPr>
        <p:spPr>
          <a:xfrm>
            <a:off x="609600" y="4086225"/>
            <a:ext cx="5143500" cy="5524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400"/>
              <a:buFont typeface="Arial"/>
              <a:buNone/>
            </a:pPr>
            <a:r>
              <a:rPr lang="en-US" sz="2400" b="1" i="0" u="none" strike="noStrike" cap="none">
                <a:solidFill>
                  <a:srgbClr val="C6F36B"/>
                </a:solidFill>
                <a:latin typeface="Arial"/>
                <a:ea typeface="Arial"/>
                <a:cs typeface="Arial"/>
                <a:sym typeface="Arial"/>
              </a:rPr>
              <a:t>Observation timing</a:t>
            </a:r>
            <a:endParaRPr sz="1400" b="0" i="0" u="none" strike="noStrike" cap="none">
              <a:solidFill>
                <a:srgbClr val="000000"/>
              </a:solidFill>
              <a:latin typeface="Arial"/>
              <a:ea typeface="Arial"/>
              <a:cs typeface="Arial"/>
              <a:sym typeface="Arial"/>
            </a:endParaRPr>
          </a:p>
        </p:txBody>
      </p:sp>
      <p:sp>
        <p:nvSpPr>
          <p:cNvPr id="112" name="Google Shape;112;p7"/>
          <p:cNvSpPr/>
          <p:nvPr/>
        </p:nvSpPr>
        <p:spPr>
          <a:xfrm>
            <a:off x="609600" y="4819650"/>
            <a:ext cx="4905375" cy="105727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0" i="0" u="none" strike="noStrike" cap="none">
                <a:solidFill>
                  <a:srgbClr val="A7B9BD"/>
                </a:solidFill>
                <a:latin typeface="Arial"/>
                <a:ea typeface="Arial"/>
                <a:cs typeface="Arial"/>
                <a:sym typeface="Arial"/>
              </a:rPr>
              <a:t>Suggestions based on individual history, with past clips as references.</a:t>
            </a:r>
            <a:endParaRPr sz="1400" b="0" i="0" u="none" strike="noStrike" cap="none">
              <a:solidFill>
                <a:srgbClr val="000000"/>
              </a:solidFill>
              <a:latin typeface="Arial"/>
              <a:ea typeface="Arial"/>
              <a:cs typeface="Arial"/>
              <a:sym typeface="Arial"/>
            </a:endParaRPr>
          </a:p>
        </p:txBody>
      </p:sp>
      <p:sp>
        <p:nvSpPr>
          <p:cNvPr id="113" name="Google Shape;113;p7"/>
          <p:cNvSpPr/>
          <p:nvPr/>
        </p:nvSpPr>
        <p:spPr>
          <a:xfrm>
            <a:off x="6353175" y="4086225"/>
            <a:ext cx="5143500" cy="5524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400"/>
              <a:buFont typeface="Arial"/>
              <a:buNone/>
            </a:pPr>
            <a:r>
              <a:rPr lang="en-US" sz="2400" b="1" i="0" u="none" strike="noStrike" cap="none">
                <a:solidFill>
                  <a:srgbClr val="60DDE5"/>
                </a:solidFill>
                <a:latin typeface="Arial"/>
                <a:ea typeface="Arial"/>
                <a:cs typeface="Arial"/>
                <a:sym typeface="Arial"/>
              </a:rPr>
              <a:t>Teacher review  /  extension</a:t>
            </a:r>
            <a:endParaRPr sz="1400" b="0" i="0" u="none" strike="noStrike" cap="none">
              <a:solidFill>
                <a:srgbClr val="000000"/>
              </a:solidFill>
              <a:latin typeface="Arial"/>
              <a:ea typeface="Arial"/>
              <a:cs typeface="Arial"/>
              <a:sym typeface="Arial"/>
            </a:endParaRPr>
          </a:p>
        </p:txBody>
      </p:sp>
      <p:sp>
        <p:nvSpPr>
          <p:cNvPr id="114" name="Google Shape;114;p7"/>
          <p:cNvSpPr/>
          <p:nvPr/>
        </p:nvSpPr>
        <p:spPr>
          <a:xfrm>
            <a:off x="6353175" y="4819650"/>
            <a:ext cx="4905375" cy="105727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00"/>
              <a:buFont typeface="Arial"/>
              <a:buNone/>
            </a:pPr>
            <a:r>
              <a:rPr lang="en-US" sz="2100" b="0" i="0" u="none" strike="noStrike" cap="none">
                <a:solidFill>
                  <a:srgbClr val="A7B9BD"/>
                </a:solidFill>
                <a:latin typeface="Arial"/>
                <a:ea typeface="Arial"/>
                <a:cs typeface="Arial"/>
                <a:sym typeface="Arial"/>
              </a:rPr>
              <a:t>Student-selected clips with notes for a teacher to review.</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19"/>
        <p:cNvGrpSpPr/>
        <p:nvPr/>
      </p:nvGrpSpPr>
      <p:grpSpPr>
        <a:xfrm>
          <a:off x="0" y="0"/>
          <a:ext cx="0" cy="0"/>
          <a:chOff x="0" y="0"/>
          <a:chExt cx="0" cy="0"/>
        </a:xfrm>
      </p:grpSpPr>
      <p:sp>
        <p:nvSpPr>
          <p:cNvPr id="2" name="Google Shape;120;p8">
            <a:extLst>
              <a:ext uri="{FF2B5EF4-FFF2-40B4-BE49-F238E27FC236}">
                <a16:creationId xmlns:a16="http://schemas.microsoft.com/office/drawing/2014/main" id="{8191379A-0937-0205-4798-E7A3EEA288ED}"/>
              </a:ext>
            </a:extLst>
          </p:cNvPr>
          <p:cNvSpPr/>
          <p:nvPr/>
        </p:nvSpPr>
        <p:spPr>
          <a:xfrm>
            <a:off x="609600" y="342900"/>
            <a:ext cx="95250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60DDE5"/>
                </a:solidFill>
                <a:latin typeface="Arial"/>
                <a:ea typeface="Arial"/>
                <a:cs typeface="Arial"/>
                <a:sym typeface="Arial"/>
              </a:rPr>
              <a:t>A  PROJECT SCOPE</a:t>
            </a:r>
            <a:endParaRPr sz="1400" b="0" i="0" u="none" strike="noStrike" cap="none">
              <a:solidFill>
                <a:srgbClr val="000000"/>
              </a:solidFill>
              <a:latin typeface="Arial"/>
              <a:ea typeface="Arial"/>
              <a:cs typeface="Arial"/>
              <a:sym typeface="Arial"/>
            </a:endParaRPr>
          </a:p>
        </p:txBody>
      </p:sp>
      <p:sp>
        <p:nvSpPr>
          <p:cNvPr id="3" name="Google Shape;121;p8">
            <a:extLst>
              <a:ext uri="{FF2B5EF4-FFF2-40B4-BE49-F238E27FC236}">
                <a16:creationId xmlns:a16="http://schemas.microsoft.com/office/drawing/2014/main" id="{0517BBAB-19C6-5AB2-C52E-DE763E5F8BD4}"/>
              </a:ext>
            </a:extLst>
          </p:cNvPr>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3450"/>
              <a:buFont typeface="Arial"/>
              <a:buNone/>
            </a:pPr>
            <a:r>
              <a:rPr lang="en-US" sz="3450" b="1" i="0" u="none" strike="noStrike" cap="none">
                <a:solidFill>
                  <a:srgbClr val="F5F8F7"/>
                </a:solidFill>
                <a:latin typeface="Arial"/>
                <a:ea typeface="Arial"/>
                <a:cs typeface="Arial"/>
                <a:sym typeface="Arial"/>
              </a:rPr>
              <a:t>Delivery scope and boundaries</a:t>
            </a:r>
            <a:endParaRPr sz="1400" b="0" i="0" u="none" strike="noStrike" cap="none">
              <a:solidFill>
                <a:srgbClr val="000000"/>
              </a:solidFill>
              <a:latin typeface="Arial"/>
              <a:ea typeface="Arial"/>
              <a:cs typeface="Arial"/>
              <a:sym typeface="Arial"/>
            </a:endParaRPr>
          </a:p>
        </p:txBody>
      </p:sp>
      <p:sp>
        <p:nvSpPr>
          <p:cNvPr id="4" name="Google Shape;122;p8">
            <a:extLst>
              <a:ext uri="{FF2B5EF4-FFF2-40B4-BE49-F238E27FC236}">
                <a16:creationId xmlns:a16="http://schemas.microsoft.com/office/drawing/2014/main" id="{FBA9B8D0-06BE-A450-6330-D78AD2035A83}"/>
              </a:ext>
            </a:extLst>
          </p:cNvPr>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125"/>
              <a:buFont typeface="Arial"/>
              <a:buNone/>
            </a:pPr>
            <a:r>
              <a:rPr lang="en-US" sz="1125" b="0" i="0" u="none" strike="noStrike" cap="none">
                <a:solidFill>
                  <a:srgbClr val="A7B9BD"/>
                </a:solidFill>
                <a:latin typeface="Arial"/>
                <a:ea typeface="Arial"/>
                <a:cs typeface="Arial"/>
                <a:sym typeface="Arial"/>
              </a:rPr>
              <a:t>08</a:t>
            </a:r>
            <a:endParaRPr sz="1400" b="0" i="0" u="none" strike="noStrike" cap="none">
              <a:solidFill>
                <a:srgbClr val="000000"/>
              </a:solidFill>
              <a:latin typeface="Arial"/>
              <a:ea typeface="Arial"/>
              <a:cs typeface="Arial"/>
              <a:sym typeface="Arial"/>
            </a:endParaRPr>
          </a:p>
        </p:txBody>
      </p:sp>
      <p:sp>
        <p:nvSpPr>
          <p:cNvPr id="5" name="Google Shape;123;p8">
            <a:extLst>
              <a:ext uri="{FF2B5EF4-FFF2-40B4-BE49-F238E27FC236}">
                <a16:creationId xmlns:a16="http://schemas.microsoft.com/office/drawing/2014/main" id="{E8638054-62F7-1A34-BF69-3E16A8467B44}"/>
              </a:ext>
            </a:extLst>
          </p:cNvPr>
          <p:cNvSpPr/>
          <p:nvPr/>
        </p:nvSpPr>
        <p:spPr>
          <a:xfrm>
            <a:off x="609600" y="1971675"/>
            <a:ext cx="5715000" cy="4953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325"/>
              <a:buFont typeface="Arial"/>
              <a:buNone/>
            </a:pPr>
            <a:r>
              <a:rPr lang="en-US" sz="2325" b="1" i="0" u="none" strike="noStrike" cap="none">
                <a:solidFill>
                  <a:srgbClr val="C6F36B"/>
                </a:solidFill>
                <a:latin typeface="Arial"/>
                <a:ea typeface="Arial"/>
                <a:cs typeface="Arial"/>
                <a:sym typeface="Arial"/>
              </a:rPr>
              <a:t>Within the proposed scope</a:t>
            </a:r>
            <a:endParaRPr sz="1400" b="0" i="0" u="none" strike="noStrike" cap="none">
              <a:solidFill>
                <a:srgbClr val="000000"/>
              </a:solidFill>
              <a:latin typeface="Arial"/>
              <a:ea typeface="Arial"/>
              <a:cs typeface="Arial"/>
              <a:sym typeface="Arial"/>
            </a:endParaRPr>
          </a:p>
        </p:txBody>
      </p:sp>
      <p:sp>
        <p:nvSpPr>
          <p:cNvPr id="6" name="Google Shape;124;p8">
            <a:extLst>
              <a:ext uri="{FF2B5EF4-FFF2-40B4-BE49-F238E27FC236}">
                <a16:creationId xmlns:a16="http://schemas.microsoft.com/office/drawing/2014/main" id="{E61B628F-2FB3-0790-AE12-6B87A7E99E02}"/>
              </a:ext>
            </a:extLst>
          </p:cNvPr>
          <p:cNvSpPr/>
          <p:nvPr/>
        </p:nvSpPr>
        <p:spPr>
          <a:xfrm>
            <a:off x="609600" y="2743200"/>
            <a:ext cx="5572200" cy="2394900"/>
          </a:xfrm>
          <a:prstGeom prst="rect">
            <a:avLst/>
          </a:prstGeom>
          <a:noFill/>
          <a:ln>
            <a:noFill/>
          </a:ln>
        </p:spPr>
        <p:txBody>
          <a:bodyPr spcFirstLastPara="1" wrap="square" lIns="91425" tIns="45700" rIns="91425" bIns="45700" anchor="t" anchorCtr="0">
            <a:noAutofit/>
          </a:bodyPr>
          <a:lstStyle/>
          <a:p>
            <a:pPr marL="457200" lvl="0" indent="-366713" algn="l" rtl="0">
              <a:lnSpc>
                <a:spcPct val="115000"/>
              </a:lnSpc>
              <a:spcBef>
                <a:spcPts val="0"/>
              </a:spcBef>
              <a:spcAft>
                <a:spcPts val="0"/>
              </a:spcAft>
              <a:buClr>
                <a:srgbClr val="F5F8F7"/>
              </a:buClr>
              <a:buSzPts val="2175"/>
              <a:buChar char="●"/>
            </a:pPr>
            <a:r>
              <a:rPr lang="en-US" sz="2175">
                <a:solidFill>
                  <a:srgbClr val="F5F8F7"/>
                </a:solidFill>
              </a:rPr>
              <a:t>Capture and storage</a:t>
            </a:r>
            <a:endParaRPr sz="2175">
              <a:solidFill>
                <a:srgbClr val="F5F8F7"/>
              </a:solidFill>
            </a:endParaRPr>
          </a:p>
          <a:p>
            <a:pPr marL="457200" lvl="0" indent="-366713" algn="l" rtl="0">
              <a:lnSpc>
                <a:spcPct val="115000"/>
              </a:lnSpc>
              <a:spcBef>
                <a:spcPts val="0"/>
              </a:spcBef>
              <a:spcAft>
                <a:spcPts val="0"/>
              </a:spcAft>
              <a:buClr>
                <a:srgbClr val="F5F8F7"/>
              </a:buClr>
              <a:buSzPts val="2175"/>
              <a:buChar char="●"/>
            </a:pPr>
            <a:r>
              <a:rPr lang="en-US" sz="2175">
                <a:solidFill>
                  <a:srgbClr val="F5F8F7"/>
                </a:solidFill>
              </a:rPr>
              <a:t>Identification and location</a:t>
            </a:r>
            <a:endParaRPr sz="2175">
              <a:solidFill>
                <a:srgbClr val="F5F8F7"/>
              </a:solidFill>
            </a:endParaRPr>
          </a:p>
          <a:p>
            <a:pPr marL="457200" lvl="0" indent="-366713" algn="l" rtl="0">
              <a:lnSpc>
                <a:spcPct val="115000"/>
              </a:lnSpc>
              <a:spcBef>
                <a:spcPts val="0"/>
              </a:spcBef>
              <a:spcAft>
                <a:spcPts val="0"/>
              </a:spcAft>
              <a:buClr>
                <a:srgbClr val="F5F8F7"/>
              </a:buClr>
              <a:buSzPts val="2175"/>
              <a:buChar char="●"/>
            </a:pPr>
            <a:r>
              <a:rPr lang="en-US" sz="2175">
                <a:solidFill>
                  <a:srgbClr val="F5F8F7"/>
                </a:solidFill>
              </a:rPr>
              <a:t>Behavior information organization</a:t>
            </a:r>
            <a:endParaRPr sz="2175">
              <a:solidFill>
                <a:srgbClr val="F5F8F7"/>
              </a:solidFill>
            </a:endParaRPr>
          </a:p>
          <a:p>
            <a:pPr marL="457200" lvl="0" indent="-366713" algn="l" rtl="0">
              <a:lnSpc>
                <a:spcPct val="115000"/>
              </a:lnSpc>
              <a:spcBef>
                <a:spcPts val="0"/>
              </a:spcBef>
              <a:spcAft>
                <a:spcPts val="0"/>
              </a:spcAft>
              <a:buClr>
                <a:srgbClr val="F5F8F7"/>
              </a:buClr>
              <a:buSzPts val="2175"/>
              <a:buChar char="●"/>
            </a:pPr>
            <a:r>
              <a:rPr lang="en-US" sz="2175">
                <a:solidFill>
                  <a:srgbClr val="F5F8F7"/>
                </a:solidFill>
              </a:rPr>
              <a:t>Data sharing and record alignment</a:t>
            </a:r>
            <a:endParaRPr sz="2175">
              <a:solidFill>
                <a:srgbClr val="F5F8F7"/>
              </a:solidFill>
            </a:endParaRPr>
          </a:p>
          <a:p>
            <a:pPr marL="457200" lvl="0" indent="-366713" algn="l" rtl="0">
              <a:lnSpc>
                <a:spcPct val="115000"/>
              </a:lnSpc>
              <a:spcBef>
                <a:spcPts val="0"/>
              </a:spcBef>
              <a:spcAft>
                <a:spcPts val="0"/>
              </a:spcAft>
              <a:buClr>
                <a:srgbClr val="F5F8F7"/>
              </a:buClr>
              <a:buSzPts val="2175"/>
              <a:buChar char="●"/>
            </a:pPr>
            <a:r>
              <a:rPr lang="en-US" sz="2175">
                <a:solidFill>
                  <a:srgbClr val="F5F8F7"/>
                </a:solidFill>
              </a:rPr>
              <a:t>Camera count and placement</a:t>
            </a:r>
            <a:endParaRPr sz="2175">
              <a:solidFill>
                <a:srgbClr val="F5F8F7"/>
              </a:solidFill>
            </a:endParaRPr>
          </a:p>
          <a:p>
            <a:pPr marL="457200" lvl="0" indent="-366713" algn="l" rtl="0">
              <a:lnSpc>
                <a:spcPct val="115000"/>
              </a:lnSpc>
              <a:spcBef>
                <a:spcPts val="0"/>
              </a:spcBef>
              <a:spcAft>
                <a:spcPts val="0"/>
              </a:spcAft>
              <a:buClr>
                <a:srgbClr val="F5F8F7"/>
              </a:buClr>
              <a:buSzPts val="2175"/>
              <a:buChar char="●"/>
            </a:pPr>
            <a:r>
              <a:rPr lang="en-US" sz="2175">
                <a:solidFill>
                  <a:srgbClr val="F5F8F7"/>
                </a:solidFill>
              </a:rPr>
              <a:t>Based on enclosure and team designs</a:t>
            </a:r>
            <a:endParaRPr sz="2175">
              <a:solidFill>
                <a:srgbClr val="F5F8F7"/>
              </a:solidFill>
            </a:endParaRPr>
          </a:p>
          <a:p>
            <a:pPr marL="0" marR="0" lvl="0" indent="0" algn="l" rtl="0">
              <a:lnSpc>
                <a:spcPct val="115000"/>
              </a:lnSpc>
              <a:spcBef>
                <a:spcPts val="0"/>
              </a:spcBef>
              <a:spcAft>
                <a:spcPts val="0"/>
              </a:spcAft>
              <a:buClr>
                <a:srgbClr val="000000"/>
              </a:buClr>
              <a:buSzPts val="2175"/>
              <a:buFont typeface="Arial"/>
              <a:buNone/>
            </a:pPr>
            <a:endParaRPr sz="2175">
              <a:solidFill>
                <a:srgbClr val="F5F8F7"/>
              </a:solidFill>
            </a:endParaRPr>
          </a:p>
        </p:txBody>
      </p:sp>
      <p:sp>
        <p:nvSpPr>
          <p:cNvPr id="7" name="Google Shape;125;p8">
            <a:extLst>
              <a:ext uri="{FF2B5EF4-FFF2-40B4-BE49-F238E27FC236}">
                <a16:creationId xmlns:a16="http://schemas.microsoft.com/office/drawing/2014/main" id="{417F7971-CD18-A7B6-931C-7FDA7CB6BF8D}"/>
              </a:ext>
            </a:extLst>
          </p:cNvPr>
          <p:cNvSpPr/>
          <p:nvPr/>
        </p:nvSpPr>
        <p:spPr>
          <a:xfrm>
            <a:off x="6877050" y="1971675"/>
            <a:ext cx="4572000" cy="4953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325"/>
              <a:buFont typeface="Arial"/>
              <a:buNone/>
            </a:pPr>
            <a:r>
              <a:rPr lang="en-US" sz="2325" b="1" i="0" u="none" strike="noStrike" cap="none">
                <a:solidFill>
                  <a:srgbClr val="60DDE5"/>
                </a:solidFill>
                <a:latin typeface="Arial"/>
                <a:ea typeface="Arial"/>
                <a:cs typeface="Arial"/>
                <a:sym typeface="Arial"/>
              </a:rPr>
              <a:t>Validation required</a:t>
            </a:r>
            <a:endParaRPr sz="1400" b="0" i="0" u="none" strike="noStrike" cap="none">
              <a:solidFill>
                <a:srgbClr val="000000"/>
              </a:solidFill>
              <a:latin typeface="Arial"/>
              <a:ea typeface="Arial"/>
              <a:cs typeface="Arial"/>
              <a:sym typeface="Arial"/>
            </a:endParaRPr>
          </a:p>
        </p:txBody>
      </p:sp>
      <p:sp>
        <p:nvSpPr>
          <p:cNvPr id="8" name="Google Shape;126;p8">
            <a:extLst>
              <a:ext uri="{FF2B5EF4-FFF2-40B4-BE49-F238E27FC236}">
                <a16:creationId xmlns:a16="http://schemas.microsoft.com/office/drawing/2014/main" id="{CA1E1585-4734-9E63-766B-482827F342BA}"/>
              </a:ext>
            </a:extLst>
          </p:cNvPr>
          <p:cNvSpPr/>
          <p:nvPr/>
        </p:nvSpPr>
        <p:spPr>
          <a:xfrm>
            <a:off x="6877050" y="2743200"/>
            <a:ext cx="4629150" cy="16859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175"/>
              <a:buFont typeface="Arial"/>
              <a:buNone/>
            </a:pPr>
            <a:r>
              <a:rPr lang="en-US" sz="2175" b="0" i="0" u="none" strike="noStrike" cap="none">
                <a:solidFill>
                  <a:srgbClr val="F5F8F7"/>
                </a:solidFill>
                <a:latin typeface="Arial"/>
                <a:ea typeface="Arial"/>
                <a:cs typeface="Arial"/>
                <a:sym typeface="Arial"/>
              </a:rPr>
              <a:t>Pattern-based identification</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2175"/>
              <a:buFont typeface="Arial"/>
              <a:buNone/>
            </a:pPr>
            <a:r>
              <a:rPr lang="en-US" sz="2175" b="0" i="0" u="none" strike="noStrike" cap="none">
                <a:solidFill>
                  <a:srgbClr val="F5F8F7"/>
                </a:solidFill>
                <a:latin typeface="Arial"/>
                <a:ea typeface="Arial"/>
                <a:cs typeface="Arial"/>
                <a:sym typeface="Arial"/>
              </a:rPr>
              <a:t>Behavior recognition</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2175"/>
              <a:buFont typeface="Arial"/>
              <a:buNone/>
            </a:pPr>
            <a:r>
              <a:rPr lang="en-US" sz="2175" b="0" i="0" u="none" strike="noStrike" cap="none">
                <a:solidFill>
                  <a:srgbClr val="F5F8F7"/>
                </a:solidFill>
                <a:latin typeface="Arial"/>
                <a:ea typeface="Arial"/>
                <a:cs typeface="Arial"/>
                <a:sym typeface="Arial"/>
              </a:rPr>
              <a:t>Surface temperature measurement</a:t>
            </a:r>
            <a:endParaRPr sz="1400" b="0" i="0" u="none" strike="noStrike" cap="none">
              <a:solidFill>
                <a:srgbClr val="000000"/>
              </a:solidFill>
              <a:latin typeface="Arial"/>
              <a:ea typeface="Arial"/>
              <a:cs typeface="Arial"/>
              <a:sym typeface="Arial"/>
            </a:endParaRPr>
          </a:p>
        </p:txBody>
      </p:sp>
      <p:sp>
        <p:nvSpPr>
          <p:cNvPr id="9" name="Google Shape;127;p8">
            <a:extLst>
              <a:ext uri="{FF2B5EF4-FFF2-40B4-BE49-F238E27FC236}">
                <a16:creationId xmlns:a16="http://schemas.microsoft.com/office/drawing/2014/main" id="{C13ADD97-4898-D75A-2AEE-0BCA59635626}"/>
              </a:ext>
            </a:extLst>
          </p:cNvPr>
          <p:cNvSpPr/>
          <p:nvPr/>
        </p:nvSpPr>
        <p:spPr>
          <a:xfrm>
            <a:off x="609600" y="5331764"/>
            <a:ext cx="5524500" cy="9048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A7B9BD"/>
                </a:solidFill>
                <a:latin typeface="Arial"/>
                <a:ea typeface="Arial"/>
                <a:cs typeface="Arial"/>
                <a:sym typeface="Arial"/>
              </a:rPr>
              <a:t>Shared interface integration is planned.</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A7B9BD"/>
                </a:solidFill>
                <a:latin typeface="Arial"/>
                <a:ea typeface="Arial"/>
                <a:cs typeface="Arial"/>
                <a:sym typeface="Arial"/>
              </a:rPr>
              <a:t>A standalone demo depends on time.</a:t>
            </a:r>
            <a:endParaRPr sz="1400" b="0" i="0" u="none" strike="noStrike" cap="none">
              <a:solidFill>
                <a:srgbClr val="000000"/>
              </a:solidFill>
              <a:latin typeface="Arial"/>
              <a:ea typeface="Arial"/>
              <a:cs typeface="Arial"/>
              <a:sym typeface="Arial"/>
            </a:endParaRPr>
          </a:p>
        </p:txBody>
      </p:sp>
      <p:sp>
        <p:nvSpPr>
          <p:cNvPr id="10" name="Google Shape;128;p8">
            <a:extLst>
              <a:ext uri="{FF2B5EF4-FFF2-40B4-BE49-F238E27FC236}">
                <a16:creationId xmlns:a16="http://schemas.microsoft.com/office/drawing/2014/main" id="{D88BF17B-C970-C026-0696-D453BF7BB5DE}"/>
              </a:ext>
            </a:extLst>
          </p:cNvPr>
          <p:cNvSpPr/>
          <p:nvPr/>
        </p:nvSpPr>
        <p:spPr>
          <a:xfrm>
            <a:off x="6877050" y="4972050"/>
            <a:ext cx="4629150" cy="11811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75"/>
              <a:buFont typeface="Arial"/>
              <a:buNone/>
            </a:pPr>
            <a:r>
              <a:rPr lang="en-US" sz="1875" b="0" i="0" u="none" strike="noStrike" cap="none">
                <a:solidFill>
                  <a:srgbClr val="A7B9BD"/>
                </a:solidFill>
                <a:latin typeface="Arial"/>
                <a:ea typeface="Arial"/>
                <a:cs typeface="Arial"/>
                <a:sym typeface="Arial"/>
              </a:rPr>
              <a:t>Automatic anomaly detection and</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75"/>
              <a:buFont typeface="Arial"/>
              <a:buNone/>
            </a:pPr>
            <a:r>
              <a:rPr lang="en-US" sz="1875" b="0" i="0" u="none" strike="noStrike" cap="none">
                <a:solidFill>
                  <a:srgbClr val="A7B9BD"/>
                </a:solidFill>
                <a:latin typeface="Arial"/>
                <a:ea typeface="Arial"/>
                <a:cs typeface="Arial"/>
                <a:sym typeface="Arial"/>
              </a:rPr>
              <a:t>health diagnosis are outside</a:t>
            </a:r>
            <a:endParaRPr sz="14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75"/>
              <a:buFont typeface="Arial"/>
              <a:buNone/>
            </a:pPr>
            <a:r>
              <a:rPr lang="en-US" sz="1875" b="0" i="0" u="none" strike="noStrike" cap="none">
                <a:solidFill>
                  <a:srgbClr val="A7B9BD"/>
                </a:solidFill>
                <a:latin typeface="Arial"/>
                <a:ea typeface="Arial"/>
                <a:cs typeface="Arial"/>
                <a:sym typeface="Arial"/>
              </a:rPr>
              <a:t>the current deliverables.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080D10"/>
        </a:solidFill>
        <a:effectLst/>
      </p:bgPr>
    </p:bg>
    <p:spTree>
      <p:nvGrpSpPr>
        <p:cNvPr id="1" name="Shape 133"/>
        <p:cNvGrpSpPr/>
        <p:nvPr/>
      </p:nvGrpSpPr>
      <p:grpSpPr>
        <a:xfrm>
          <a:off x="0" y="0"/>
          <a:ext cx="0" cy="0"/>
          <a:chOff x="0" y="0"/>
          <a:chExt cx="0" cy="0"/>
        </a:xfrm>
      </p:grpSpPr>
      <p:sp>
        <p:nvSpPr>
          <p:cNvPr id="134" name="Google Shape;134;p9"/>
          <p:cNvSpPr/>
          <p:nvPr/>
        </p:nvSpPr>
        <p:spPr>
          <a:xfrm>
            <a:off x="609600" y="342900"/>
            <a:ext cx="95250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60DDE5"/>
                </a:solidFill>
                <a:latin typeface="Arial"/>
                <a:ea typeface="Arial"/>
                <a:cs typeface="Arial"/>
                <a:sym typeface="Arial"/>
              </a:rPr>
              <a:t>A  PROJECT SCOPE</a:t>
            </a:r>
            <a:endParaRPr sz="1400" b="0" i="0" u="none" strike="noStrike" cap="none">
              <a:solidFill>
                <a:srgbClr val="000000"/>
              </a:solidFill>
              <a:latin typeface="Arial"/>
              <a:ea typeface="Arial"/>
              <a:cs typeface="Arial"/>
              <a:sym typeface="Arial"/>
            </a:endParaRPr>
          </a:p>
        </p:txBody>
      </p:sp>
      <p:sp>
        <p:nvSpPr>
          <p:cNvPr id="135" name="Google Shape;135;p9"/>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3450"/>
              <a:buFont typeface="Arial"/>
              <a:buNone/>
            </a:pPr>
            <a:r>
              <a:rPr lang="en-US" sz="3450" b="1" i="0" u="none" strike="noStrike" cap="none">
                <a:solidFill>
                  <a:srgbClr val="F5F8F7"/>
                </a:solidFill>
                <a:latin typeface="Arial"/>
                <a:ea typeface="Arial"/>
                <a:cs typeface="Arial"/>
                <a:sym typeface="Arial"/>
              </a:rPr>
              <a:t>Project validation</a:t>
            </a:r>
            <a:endParaRPr sz="1400" b="0" i="0" u="none" strike="noStrike" cap="none">
              <a:solidFill>
                <a:srgbClr val="000000"/>
              </a:solidFill>
              <a:latin typeface="Arial"/>
              <a:ea typeface="Arial"/>
              <a:cs typeface="Arial"/>
              <a:sym typeface="Arial"/>
            </a:endParaRPr>
          </a:p>
        </p:txBody>
      </p:sp>
      <p:sp>
        <p:nvSpPr>
          <p:cNvPr id="136" name="Google Shape;136;p9"/>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125"/>
              <a:buFont typeface="Arial"/>
              <a:buNone/>
            </a:pPr>
            <a:r>
              <a:rPr lang="en-US" sz="1125" b="0" i="0" u="none" strike="noStrike" cap="none">
                <a:solidFill>
                  <a:srgbClr val="A7B9BD"/>
                </a:solidFill>
                <a:latin typeface="Arial"/>
                <a:ea typeface="Arial"/>
                <a:cs typeface="Arial"/>
                <a:sym typeface="Arial"/>
              </a:rPr>
              <a:t>09</a:t>
            </a:r>
            <a:endParaRPr sz="1400" b="0" i="0" u="none" strike="noStrike" cap="none">
              <a:solidFill>
                <a:srgbClr val="000000"/>
              </a:solidFill>
              <a:latin typeface="Arial"/>
              <a:ea typeface="Arial"/>
              <a:cs typeface="Arial"/>
              <a:sym typeface="Arial"/>
            </a:endParaRPr>
          </a:p>
        </p:txBody>
      </p:sp>
      <p:sp>
        <p:nvSpPr>
          <p:cNvPr id="137" name="Google Shape;137;p9"/>
          <p:cNvSpPr/>
          <p:nvPr/>
        </p:nvSpPr>
        <p:spPr>
          <a:xfrm>
            <a:off x="609600" y="2126560"/>
            <a:ext cx="10572900" cy="1400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6F36B"/>
                </a:solidFill>
                <a:latin typeface="Arial"/>
                <a:ea typeface="Arial"/>
                <a:cs typeface="Arial"/>
                <a:sym typeface="Arial"/>
              </a:rPr>
              <a:t>Can sustained records help students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6F36B"/>
                </a:solidFill>
                <a:latin typeface="Arial"/>
                <a:ea typeface="Arial"/>
                <a:cs typeface="Arial"/>
                <a:sym typeface="Arial"/>
              </a:rPr>
              <a:t>understand individual behavior?</a:t>
            </a:r>
            <a:endParaRPr sz="1400" b="0" i="0" u="none" strike="noStrike" cap="none">
              <a:solidFill>
                <a:srgbClr val="000000"/>
              </a:solidFill>
              <a:latin typeface="Arial"/>
              <a:ea typeface="Arial"/>
              <a:cs typeface="Arial"/>
              <a:sym typeface="Arial"/>
            </a:endParaRPr>
          </a:p>
        </p:txBody>
      </p:sp>
      <p:sp>
        <p:nvSpPr>
          <p:cNvPr id="138" name="Google Shape;138;p9"/>
          <p:cNvSpPr/>
          <p:nvPr/>
        </p:nvSpPr>
        <p:spPr>
          <a:xfrm>
            <a:off x="609600" y="4067175"/>
            <a:ext cx="10477500" cy="5143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400"/>
              <a:buFont typeface="Arial"/>
              <a:buNone/>
            </a:pPr>
            <a:r>
              <a:rPr lang="en-US" sz="2400" b="0" i="0" u="none" strike="noStrike" cap="none">
                <a:solidFill>
                  <a:srgbClr val="F5F8F7"/>
                </a:solidFill>
                <a:latin typeface="Arial"/>
                <a:ea typeface="Arial"/>
                <a:cs typeface="Arial"/>
                <a:sym typeface="Arial"/>
              </a:rPr>
              <a:t>Find opportunities to observe</a:t>
            </a:r>
            <a:endParaRPr sz="1400" b="0" i="0" u="none" strike="noStrike" cap="none">
              <a:solidFill>
                <a:srgbClr val="000000"/>
              </a:solidFill>
              <a:latin typeface="Arial"/>
              <a:ea typeface="Arial"/>
              <a:cs typeface="Arial"/>
              <a:sym typeface="Arial"/>
            </a:endParaRPr>
          </a:p>
        </p:txBody>
      </p:sp>
      <p:sp>
        <p:nvSpPr>
          <p:cNvPr id="139" name="Google Shape;139;p9"/>
          <p:cNvSpPr/>
          <p:nvPr/>
        </p:nvSpPr>
        <p:spPr>
          <a:xfrm>
            <a:off x="609600" y="4762500"/>
            <a:ext cx="10668000" cy="52387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400"/>
              <a:buFont typeface="Arial"/>
              <a:buNone/>
            </a:pPr>
            <a:r>
              <a:rPr lang="en-US" sz="2400" b="0" i="0" u="none" strike="noStrike" cap="none">
                <a:solidFill>
                  <a:srgbClr val="F5F8F7"/>
                </a:solidFill>
                <a:latin typeface="Arial"/>
                <a:ea typeface="Arial"/>
                <a:cs typeface="Arial"/>
                <a:sym typeface="Arial"/>
              </a:rPr>
              <a:t>Compare records and develop research questions</a:t>
            </a:r>
            <a:endParaRPr sz="1400" b="0" i="0" u="none" strike="noStrike" cap="none">
              <a:solidFill>
                <a:srgbClr val="000000"/>
              </a:solidFill>
              <a:latin typeface="Arial"/>
              <a:ea typeface="Arial"/>
              <a:cs typeface="Arial"/>
              <a:sym typeface="Arial"/>
            </a:endParaRPr>
          </a:p>
        </p:txBody>
      </p:sp>
      <p:sp>
        <p:nvSpPr>
          <p:cNvPr id="140" name="Google Shape;140;p9"/>
          <p:cNvSpPr/>
          <p:nvPr/>
        </p:nvSpPr>
        <p:spPr>
          <a:xfrm>
            <a:off x="609600" y="5457825"/>
            <a:ext cx="10763250" cy="52387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2400"/>
              <a:buFont typeface="Arial"/>
              <a:buNone/>
            </a:pPr>
            <a:r>
              <a:rPr lang="en-US" sz="2400" b="0" i="0" u="none" strike="noStrike" cap="none">
                <a:solidFill>
                  <a:srgbClr val="F5F8F7"/>
                </a:solidFill>
                <a:latin typeface="Arial"/>
                <a:ea typeface="Arial"/>
                <a:cs typeface="Arial"/>
                <a:sym typeface="Arial"/>
              </a:rPr>
              <a:t>Use evidence in learning and care communication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44"/>
        <p:cNvGrpSpPr/>
        <p:nvPr/>
      </p:nvGrpSpPr>
      <p:grpSpPr>
        <a:xfrm>
          <a:off x="0" y="0"/>
          <a:ext cx="0" cy="0"/>
          <a:chOff x="0" y="0"/>
          <a:chExt cx="0" cy="0"/>
        </a:xfrm>
      </p:grpSpPr>
      <p:sp>
        <p:nvSpPr>
          <p:cNvPr id="145" name="Google Shape;145;h31b3314f7524dc90_1_3"/>
          <p:cNvSpPr/>
          <p:nvPr/>
        </p:nvSpPr>
        <p:spPr>
          <a:xfrm>
            <a:off x="176143" y="-1303233"/>
            <a:ext cx="2190900" cy="18096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40000"/>
              <a:buFont typeface="Arial"/>
              <a:buNone/>
            </a:pPr>
            <a:r>
              <a:rPr lang="en-US" sz="40000" b="1" i="0" u="none" strike="noStrike" cap="none">
                <a:solidFill>
                  <a:schemeClr val="lt1"/>
                </a:solidFill>
                <a:latin typeface="Arial"/>
                <a:ea typeface="Arial"/>
                <a:cs typeface="Arial"/>
                <a:sym typeface="Arial"/>
              </a:rPr>
              <a:t>BA</a:t>
            </a:r>
            <a:endParaRPr sz="40000" b="0" i="0" u="none" strike="noStrike" cap="none">
              <a:solidFill>
                <a:schemeClr val="lt1"/>
              </a:solidFill>
              <a:latin typeface="Arial"/>
              <a:ea typeface="Arial"/>
              <a:cs typeface="Arial"/>
              <a:sym typeface="Arial"/>
            </a:endParaRPr>
          </a:p>
        </p:txBody>
      </p:sp>
      <p:sp>
        <p:nvSpPr>
          <p:cNvPr id="146" name="Google Shape;146;h31b3314f7524dc90_1_3"/>
          <p:cNvSpPr/>
          <p:nvPr/>
        </p:nvSpPr>
        <p:spPr>
          <a:xfrm>
            <a:off x="6938323" y="3627142"/>
            <a:ext cx="5715000" cy="200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800"/>
              <a:buFont typeface="Arial"/>
              <a:buNone/>
            </a:pPr>
            <a:r>
              <a:rPr lang="en-US" sz="4800" b="1" i="0" u="none" strike="noStrike" cap="none">
                <a:solidFill>
                  <a:srgbClr val="F5F8F7"/>
                </a:solidFill>
                <a:latin typeface="Arial"/>
                <a:ea typeface="Arial"/>
                <a:cs typeface="Arial"/>
                <a:sym typeface="Arial"/>
              </a:rPr>
              <a:t>TECHNICAL</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4800"/>
              <a:buFont typeface="Arial"/>
              <a:buNone/>
            </a:pPr>
            <a:r>
              <a:rPr lang="en-US" sz="4800" b="1" i="0" u="none" strike="noStrike" cap="none">
                <a:solidFill>
                  <a:srgbClr val="C6F36B"/>
                </a:solidFill>
                <a:latin typeface="Arial"/>
                <a:ea typeface="Arial"/>
                <a:cs typeface="Arial"/>
                <a:sym typeface="Arial"/>
              </a:rPr>
              <a:t>EXPLORATION</a:t>
            </a:r>
            <a:endParaRPr sz="4800" b="1" i="0" u="none" strike="noStrike" cap="none">
              <a:solidFill>
                <a:srgbClr val="C6F36B"/>
              </a:solidFill>
              <a:latin typeface="Arial"/>
              <a:ea typeface="Arial"/>
              <a:cs typeface="Arial"/>
              <a:sym typeface="Arial"/>
            </a:endParaRPr>
          </a:p>
        </p:txBody>
      </p:sp>
      <p:pic>
        <p:nvPicPr>
          <p:cNvPr id="147" name="Google Shape;147;h31b3314f7524dc90_1_3" title="Usb Port 1--Streamline-Ultimate.png"/>
          <p:cNvPicPr preferRelativeResize="0"/>
          <p:nvPr/>
        </p:nvPicPr>
        <p:blipFill rotWithShape="1">
          <a:blip r:embed="rId3">
            <a:alphaModFix/>
          </a:blip>
          <a:srcRect/>
          <a:stretch/>
        </p:blipFill>
        <p:spPr>
          <a:xfrm>
            <a:off x="4888964" y="3726215"/>
            <a:ext cx="2000100" cy="2000100"/>
          </a:xfrm>
          <a:prstGeom prst="rect">
            <a:avLst/>
          </a:prstGeom>
          <a:noFill/>
          <a:ln>
            <a:noFill/>
          </a:ln>
        </p:spPr>
      </p:pic>
      <p:sp>
        <p:nvSpPr>
          <p:cNvPr id="148" name="Google Shape;148;h31b3314f7524dc90_1_3"/>
          <p:cNvSpPr/>
          <p:nvPr/>
        </p:nvSpPr>
        <p:spPr>
          <a:xfrm>
            <a:off x="7037350" y="5526825"/>
            <a:ext cx="5154600" cy="199500"/>
          </a:xfrm>
          <a:prstGeom prst="rect">
            <a:avLst/>
          </a:prstGeom>
          <a:solidFill>
            <a:srgbClr val="C6F36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53"/>
        <p:cNvGrpSpPr/>
        <p:nvPr/>
      </p:nvGrpSpPr>
      <p:grpSpPr>
        <a:xfrm>
          <a:off x="0" y="0"/>
          <a:ext cx="0" cy="0"/>
          <a:chOff x="0" y="0"/>
          <a:chExt cx="0" cy="0"/>
        </a:xfrm>
      </p:grpSpPr>
      <p:sp>
        <p:nvSpPr>
          <p:cNvPr id="154" name="Google Shape;154;p10"/>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11</a:t>
            </a:r>
            <a:endParaRPr/>
          </a:p>
        </p:txBody>
      </p:sp>
      <p:pic>
        <p:nvPicPr>
          <p:cNvPr id="3" name="图片 2">
            <a:extLst>
              <a:ext uri="{FF2B5EF4-FFF2-40B4-BE49-F238E27FC236}">
                <a16:creationId xmlns:a16="http://schemas.microsoft.com/office/drawing/2014/main" id="{F34E1906-3C4B-F78A-E484-45D895A315BE}"/>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16"/>
        <p:cNvGrpSpPr/>
        <p:nvPr/>
      </p:nvGrpSpPr>
      <p:grpSpPr>
        <a:xfrm>
          <a:off x="0" y="0"/>
          <a:ext cx="0" cy="0"/>
          <a:chOff x="0" y="0"/>
          <a:chExt cx="0" cy="0"/>
        </a:xfrm>
      </p:grpSpPr>
      <p:sp>
        <p:nvSpPr>
          <p:cNvPr id="217" name="Google Shape;217;h7cea38253e7f5ec5_0_32"/>
          <p:cNvSpPr/>
          <p:nvPr/>
        </p:nvSpPr>
        <p:spPr>
          <a:xfrm>
            <a:off x="11163300" y="6381750"/>
            <a:ext cx="476400" cy="238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15</a:t>
            </a:r>
            <a:endParaRPr/>
          </a:p>
        </p:txBody>
      </p:sp>
      <p:pic>
        <p:nvPicPr>
          <p:cNvPr id="3" name="图片 2">
            <a:extLst>
              <a:ext uri="{FF2B5EF4-FFF2-40B4-BE49-F238E27FC236}">
                <a16:creationId xmlns:a16="http://schemas.microsoft.com/office/drawing/2014/main" id="{65736843-98CE-32BB-7327-FE90AA632548}"/>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09"/>
        <p:cNvGrpSpPr/>
        <p:nvPr/>
      </p:nvGrpSpPr>
      <p:grpSpPr>
        <a:xfrm>
          <a:off x="0" y="0"/>
          <a:ext cx="0" cy="0"/>
          <a:chOff x="0" y="0"/>
          <a:chExt cx="0" cy="0"/>
        </a:xfrm>
      </p:grpSpPr>
      <p:sp>
        <p:nvSpPr>
          <p:cNvPr id="210" name="Google Shape;210;h7cea38253e7f5ec5_0_27"/>
          <p:cNvSpPr/>
          <p:nvPr/>
        </p:nvSpPr>
        <p:spPr>
          <a:xfrm>
            <a:off x="11163300" y="6381750"/>
            <a:ext cx="476400" cy="238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15</a:t>
            </a:r>
            <a:endParaRPr/>
          </a:p>
        </p:txBody>
      </p:sp>
      <p:pic>
        <p:nvPicPr>
          <p:cNvPr id="3" name="图片 2">
            <a:extLst>
              <a:ext uri="{FF2B5EF4-FFF2-40B4-BE49-F238E27FC236}">
                <a16:creationId xmlns:a16="http://schemas.microsoft.com/office/drawing/2014/main" id="{C82CE94A-4E74-342C-0C2A-9336FED7212D}"/>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02"/>
        <p:cNvGrpSpPr/>
        <p:nvPr/>
      </p:nvGrpSpPr>
      <p:grpSpPr>
        <a:xfrm>
          <a:off x="0" y="0"/>
          <a:ext cx="0" cy="0"/>
          <a:chOff x="0" y="0"/>
          <a:chExt cx="0" cy="0"/>
        </a:xfrm>
      </p:grpSpPr>
      <p:sp>
        <p:nvSpPr>
          <p:cNvPr id="203" name="Google Shape;203;h7cea38253e7f5ec5_0_22"/>
          <p:cNvSpPr/>
          <p:nvPr/>
        </p:nvSpPr>
        <p:spPr>
          <a:xfrm>
            <a:off x="11163300" y="6381750"/>
            <a:ext cx="476400" cy="238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15</a:t>
            </a:r>
            <a:endParaRPr/>
          </a:p>
        </p:txBody>
      </p:sp>
      <p:pic>
        <p:nvPicPr>
          <p:cNvPr id="3" name="图片 2">
            <a:extLst>
              <a:ext uri="{FF2B5EF4-FFF2-40B4-BE49-F238E27FC236}">
                <a16:creationId xmlns:a16="http://schemas.microsoft.com/office/drawing/2014/main" id="{936F19BD-5694-4DC2-F726-0126A96A2E7D}"/>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95"/>
        <p:cNvGrpSpPr/>
        <p:nvPr/>
      </p:nvGrpSpPr>
      <p:grpSpPr>
        <a:xfrm>
          <a:off x="0" y="0"/>
          <a:ext cx="0" cy="0"/>
          <a:chOff x="0" y="0"/>
          <a:chExt cx="0" cy="0"/>
        </a:xfrm>
      </p:grpSpPr>
      <p:sp>
        <p:nvSpPr>
          <p:cNvPr id="196" name="Google Shape;196;h7cea38253e7f5ec5_0_17"/>
          <p:cNvSpPr/>
          <p:nvPr/>
        </p:nvSpPr>
        <p:spPr>
          <a:xfrm>
            <a:off x="11163300" y="6381750"/>
            <a:ext cx="476400" cy="238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15</a:t>
            </a:r>
            <a:endParaRPr/>
          </a:p>
        </p:txBody>
      </p:sp>
      <p:pic>
        <p:nvPicPr>
          <p:cNvPr id="3" name="图片 2">
            <a:extLst>
              <a:ext uri="{FF2B5EF4-FFF2-40B4-BE49-F238E27FC236}">
                <a16:creationId xmlns:a16="http://schemas.microsoft.com/office/drawing/2014/main" id="{FE1DBAEA-39F8-4A35-99E4-202A6D8C1694}"/>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60"/>
        <p:cNvGrpSpPr/>
        <p:nvPr/>
      </p:nvGrpSpPr>
      <p:grpSpPr>
        <a:xfrm>
          <a:off x="0" y="0"/>
          <a:ext cx="0" cy="0"/>
          <a:chOff x="0" y="0"/>
          <a:chExt cx="0" cy="0"/>
        </a:xfrm>
      </p:grpSpPr>
      <p:sp>
        <p:nvSpPr>
          <p:cNvPr id="161" name="Google Shape;161;p13"/>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12</a:t>
            </a:r>
            <a:endParaRPr/>
          </a:p>
        </p:txBody>
      </p:sp>
      <p:pic>
        <p:nvPicPr>
          <p:cNvPr id="3" name="图片 2">
            <a:extLst>
              <a:ext uri="{FF2B5EF4-FFF2-40B4-BE49-F238E27FC236}">
                <a16:creationId xmlns:a16="http://schemas.microsoft.com/office/drawing/2014/main" id="{8A6C9705-EEDE-ADBF-5281-74C488A0181E}"/>
              </a:ext>
            </a:extLst>
          </p:cNvPr>
          <p:cNvPicPr>
            <a:picLocks noChangeAspect="1"/>
          </p:cNvPicPr>
          <p:nvPr/>
        </p:nvPicPr>
        <p:blipFill>
          <a:blip r:embed="rId3"/>
          <a:stretch>
            <a:fillRect/>
          </a:stretch>
        </p:blipFill>
        <p:spPr>
          <a:xfrm>
            <a:off x="-1" y="0"/>
            <a:ext cx="12192001"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67"/>
        <p:cNvGrpSpPr/>
        <p:nvPr/>
      </p:nvGrpSpPr>
      <p:grpSpPr>
        <a:xfrm>
          <a:off x="0" y="0"/>
          <a:ext cx="0" cy="0"/>
          <a:chOff x="0" y="0"/>
          <a:chExt cx="0" cy="0"/>
        </a:xfrm>
      </p:grpSpPr>
      <p:sp>
        <p:nvSpPr>
          <p:cNvPr id="168" name="Google Shape;168;p17"/>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13</a:t>
            </a:r>
            <a:endParaRPr/>
          </a:p>
        </p:txBody>
      </p:sp>
      <p:pic>
        <p:nvPicPr>
          <p:cNvPr id="3" name="图片 2">
            <a:extLst>
              <a:ext uri="{FF2B5EF4-FFF2-40B4-BE49-F238E27FC236}">
                <a16:creationId xmlns:a16="http://schemas.microsoft.com/office/drawing/2014/main" id="{6E4533EC-38E8-116B-214E-72E1450C79B0}"/>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74"/>
        <p:cNvGrpSpPr/>
        <p:nvPr/>
      </p:nvGrpSpPr>
      <p:grpSpPr>
        <a:xfrm>
          <a:off x="0" y="0"/>
          <a:ext cx="0" cy="0"/>
          <a:chOff x="0" y="0"/>
          <a:chExt cx="0" cy="0"/>
        </a:xfrm>
      </p:grpSpPr>
      <p:sp>
        <p:nvSpPr>
          <p:cNvPr id="175" name="Google Shape;175;p18"/>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14</a:t>
            </a:r>
            <a:endParaRPr/>
          </a:p>
        </p:txBody>
      </p:sp>
      <p:pic>
        <p:nvPicPr>
          <p:cNvPr id="3" name="图片 2">
            <a:extLst>
              <a:ext uri="{FF2B5EF4-FFF2-40B4-BE49-F238E27FC236}">
                <a16:creationId xmlns:a16="http://schemas.microsoft.com/office/drawing/2014/main" id="{7B4414F3-52FE-E208-7153-CBCB5E0611F3}"/>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81"/>
        <p:cNvGrpSpPr/>
        <p:nvPr/>
      </p:nvGrpSpPr>
      <p:grpSpPr>
        <a:xfrm>
          <a:off x="0" y="0"/>
          <a:ext cx="0" cy="0"/>
          <a:chOff x="0" y="0"/>
          <a:chExt cx="0" cy="0"/>
        </a:xfrm>
      </p:grpSpPr>
      <p:sp>
        <p:nvSpPr>
          <p:cNvPr id="182" name="Google Shape;182;p19"/>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15</a:t>
            </a:r>
            <a:endParaRPr/>
          </a:p>
        </p:txBody>
      </p:sp>
      <p:pic>
        <p:nvPicPr>
          <p:cNvPr id="3" name="图片 2">
            <a:extLst>
              <a:ext uri="{FF2B5EF4-FFF2-40B4-BE49-F238E27FC236}">
                <a16:creationId xmlns:a16="http://schemas.microsoft.com/office/drawing/2014/main" id="{4225F59F-F534-20AF-9CF2-2E007C37BC4F}"/>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188"/>
        <p:cNvGrpSpPr/>
        <p:nvPr/>
      </p:nvGrpSpPr>
      <p:grpSpPr>
        <a:xfrm>
          <a:off x="0" y="0"/>
          <a:ext cx="0" cy="0"/>
          <a:chOff x="0" y="0"/>
          <a:chExt cx="0" cy="0"/>
        </a:xfrm>
      </p:grpSpPr>
      <p:sp>
        <p:nvSpPr>
          <p:cNvPr id="189" name="Google Shape;189;h7cea38253e7f5ec5_0_12"/>
          <p:cNvSpPr/>
          <p:nvPr/>
        </p:nvSpPr>
        <p:spPr>
          <a:xfrm>
            <a:off x="11163300" y="6381750"/>
            <a:ext cx="476400" cy="238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15</a:t>
            </a:r>
            <a:endParaRPr/>
          </a:p>
        </p:txBody>
      </p:sp>
      <p:pic>
        <p:nvPicPr>
          <p:cNvPr id="3" name="图片 2">
            <a:extLst>
              <a:ext uri="{FF2B5EF4-FFF2-40B4-BE49-F238E27FC236}">
                <a16:creationId xmlns:a16="http://schemas.microsoft.com/office/drawing/2014/main" id="{9CF88AC3-3A01-732D-B582-1D951EBA6889}"/>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22"/>
        <p:cNvGrpSpPr/>
        <p:nvPr/>
      </p:nvGrpSpPr>
      <p:grpSpPr>
        <a:xfrm>
          <a:off x="0" y="0"/>
          <a:ext cx="0" cy="0"/>
          <a:chOff x="0" y="0"/>
          <a:chExt cx="0" cy="0"/>
        </a:xfrm>
      </p:grpSpPr>
      <p:sp>
        <p:nvSpPr>
          <p:cNvPr id="223" name="Google Shape;223;g40a2810a138_5_0"/>
          <p:cNvSpPr/>
          <p:nvPr/>
        </p:nvSpPr>
        <p:spPr>
          <a:xfrm>
            <a:off x="176143" y="-1303233"/>
            <a:ext cx="2190900" cy="18096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40000"/>
              <a:buFont typeface="Arial"/>
              <a:buNone/>
            </a:pPr>
            <a:r>
              <a:rPr lang="en-US" sz="40000" b="1" i="0" u="none" strike="noStrike" cap="none">
                <a:solidFill>
                  <a:schemeClr val="lt1"/>
                </a:solidFill>
                <a:latin typeface="Arial"/>
                <a:ea typeface="Arial"/>
                <a:cs typeface="Arial"/>
                <a:sym typeface="Arial"/>
              </a:rPr>
              <a:t>CBA</a:t>
            </a:r>
            <a:endParaRPr sz="40000" b="0" i="0" u="none" strike="noStrike" cap="none">
              <a:solidFill>
                <a:schemeClr val="lt1"/>
              </a:solidFill>
              <a:latin typeface="Arial"/>
              <a:ea typeface="Arial"/>
              <a:cs typeface="Arial"/>
              <a:sym typeface="Arial"/>
            </a:endParaRPr>
          </a:p>
        </p:txBody>
      </p:sp>
      <p:sp>
        <p:nvSpPr>
          <p:cNvPr id="224" name="Google Shape;224;g40a2810a138_5_0"/>
          <p:cNvSpPr/>
          <p:nvPr/>
        </p:nvSpPr>
        <p:spPr>
          <a:xfrm>
            <a:off x="6376914" y="3627142"/>
            <a:ext cx="5715000" cy="200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4800"/>
              <a:buFont typeface="Arial"/>
              <a:buNone/>
            </a:pPr>
            <a:r>
              <a:rPr lang="en-US" sz="4800" b="1" i="0" u="none" strike="noStrike" cap="none">
                <a:solidFill>
                  <a:srgbClr val="F5F8F7"/>
                </a:solidFill>
                <a:latin typeface="Arial"/>
                <a:ea typeface="Arial"/>
                <a:cs typeface="Arial"/>
                <a:sym typeface="Arial"/>
              </a:rPr>
              <a:t>CROSS-TEAM</a:t>
            </a:r>
            <a:endParaRPr sz="4800" b="1" i="0" u="none" strike="noStrike" cap="none">
              <a:solidFill>
                <a:srgbClr val="F5F8F7"/>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4800"/>
              <a:buFont typeface="Arial"/>
              <a:buNone/>
            </a:pPr>
            <a:r>
              <a:rPr lang="en-US" sz="4800" b="1" i="0" u="none" strike="noStrike" cap="none">
                <a:solidFill>
                  <a:srgbClr val="C6F36B"/>
                </a:solidFill>
                <a:latin typeface="Arial"/>
                <a:ea typeface="Arial"/>
                <a:cs typeface="Arial"/>
                <a:sym typeface="Arial"/>
              </a:rPr>
              <a:t>COLLABORATION</a:t>
            </a:r>
            <a:endParaRPr sz="4800" b="1" i="0" u="none" strike="noStrike" cap="none">
              <a:solidFill>
                <a:srgbClr val="C6F36B"/>
              </a:solidFill>
              <a:latin typeface="Arial"/>
              <a:ea typeface="Arial"/>
              <a:cs typeface="Arial"/>
              <a:sym typeface="Arial"/>
            </a:endParaRPr>
          </a:p>
        </p:txBody>
      </p:sp>
      <p:pic>
        <p:nvPicPr>
          <p:cNvPr id="225" name="Google Shape;225;g40a2810a138_5_0" title="Human Resources Hierarchy 1--Streamline-Ultimate.png"/>
          <p:cNvPicPr preferRelativeResize="0"/>
          <p:nvPr/>
        </p:nvPicPr>
        <p:blipFill rotWithShape="1">
          <a:blip r:embed="rId3">
            <a:alphaModFix/>
          </a:blip>
          <a:srcRect/>
          <a:stretch/>
        </p:blipFill>
        <p:spPr>
          <a:xfrm>
            <a:off x="4126471" y="3726215"/>
            <a:ext cx="2000100" cy="2000100"/>
          </a:xfrm>
          <a:prstGeom prst="rect">
            <a:avLst/>
          </a:prstGeom>
          <a:noFill/>
          <a:ln>
            <a:noFill/>
          </a:ln>
        </p:spPr>
      </p:pic>
      <p:sp>
        <p:nvSpPr>
          <p:cNvPr id="226" name="Google Shape;226;g40a2810a138_5_0"/>
          <p:cNvSpPr/>
          <p:nvPr/>
        </p:nvSpPr>
        <p:spPr>
          <a:xfrm>
            <a:off x="6475951" y="5526825"/>
            <a:ext cx="5715000" cy="199500"/>
          </a:xfrm>
          <a:prstGeom prst="rect">
            <a:avLst/>
          </a:prstGeom>
          <a:solidFill>
            <a:srgbClr val="C6F36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31"/>
        <p:cNvGrpSpPr/>
        <p:nvPr/>
      </p:nvGrpSpPr>
      <p:grpSpPr>
        <a:xfrm>
          <a:off x="0" y="0"/>
          <a:ext cx="0" cy="0"/>
          <a:chOff x="0" y="0"/>
          <a:chExt cx="0" cy="0"/>
        </a:xfrm>
      </p:grpSpPr>
      <p:sp>
        <p:nvSpPr>
          <p:cNvPr id="232" name="Google Shape;232;p20"/>
          <p:cNvSpPr/>
          <p:nvPr/>
        </p:nvSpPr>
        <p:spPr>
          <a:xfrm>
            <a:off x="609600" y="342900"/>
            <a:ext cx="104775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200" b="1" i="0" u="none" strike="noStrike" cap="none">
                <a:solidFill>
                  <a:srgbClr val="60DDE5"/>
                </a:solidFill>
                <a:latin typeface="Arial"/>
                <a:ea typeface="Arial"/>
                <a:cs typeface="Arial"/>
                <a:sym typeface="Arial"/>
              </a:rPr>
              <a:t>C  CROSS-TEAM COLLABORATION</a:t>
            </a:r>
            <a:endParaRPr/>
          </a:p>
        </p:txBody>
      </p:sp>
      <p:sp>
        <p:nvSpPr>
          <p:cNvPr id="233" name="Google Shape;233;p20"/>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3450" b="1" i="0" u="none" strike="noStrike" cap="none">
                <a:solidFill>
                  <a:srgbClr val="F5F8F7"/>
                </a:solidFill>
                <a:latin typeface="Arial"/>
                <a:ea typeface="Arial"/>
                <a:cs typeface="Arial"/>
                <a:sym typeface="Arial"/>
              </a:rPr>
              <a:t>Team inputs and outputs </a:t>
            </a:r>
            <a:r>
              <a:rPr lang="en-US" sz="3450" b="1">
                <a:solidFill>
                  <a:srgbClr val="F5F8F7"/>
                </a:solidFill>
              </a:rPr>
              <a:t>| </a:t>
            </a:r>
            <a:r>
              <a:rPr lang="en-US" sz="3450" b="1" i="0" u="none" strike="noStrike" cap="none">
                <a:solidFill>
                  <a:srgbClr val="F5F8F7"/>
                </a:solidFill>
                <a:latin typeface="Arial"/>
                <a:ea typeface="Arial"/>
                <a:cs typeface="Arial"/>
                <a:sym typeface="Arial"/>
              </a:rPr>
              <a:t>1 </a:t>
            </a:r>
            <a:r>
              <a:rPr lang="en-US" sz="3450" b="1">
                <a:solidFill>
                  <a:srgbClr val="F5F8F7"/>
                </a:solidFill>
              </a:rPr>
              <a:t>/</a:t>
            </a:r>
            <a:r>
              <a:rPr lang="en-US" sz="3450" b="1" i="0" u="none" strike="noStrike" cap="none">
                <a:solidFill>
                  <a:srgbClr val="F5F8F7"/>
                </a:solidFill>
                <a:latin typeface="Arial"/>
                <a:ea typeface="Arial"/>
                <a:cs typeface="Arial"/>
                <a:sym typeface="Arial"/>
              </a:rPr>
              <a:t> 3</a:t>
            </a:r>
            <a:endParaRPr/>
          </a:p>
        </p:txBody>
      </p:sp>
      <p:sp>
        <p:nvSpPr>
          <p:cNvPr id="234" name="Google Shape;234;p20"/>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17</a:t>
            </a:r>
            <a:endParaRPr/>
          </a:p>
        </p:txBody>
      </p:sp>
      <p:graphicFrame>
        <p:nvGraphicFramePr>
          <p:cNvPr id="235" name="Google Shape;235;p20"/>
          <p:cNvGraphicFramePr/>
          <p:nvPr/>
        </p:nvGraphicFramePr>
        <p:xfrm>
          <a:off x="609600" y="1875340"/>
          <a:ext cx="10972800" cy="3810000"/>
        </p:xfrm>
        <a:graphic>
          <a:graphicData uri="http://schemas.openxmlformats.org/drawingml/2006/table">
            <a:tbl>
              <a:tblPr>
                <a:noFill/>
                <a:tableStyleId>{5703555B-6AFD-4B4B-9EC0-19226ED46D85}</a:tableStyleId>
              </a:tblPr>
              <a:tblGrid>
                <a:gridCol w="1790700">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3133725">
                  <a:extLst>
                    <a:ext uri="{9D8B030D-6E8A-4147-A177-3AD203B41FA5}">
                      <a16:colId xmlns:a16="http://schemas.microsoft.com/office/drawing/2014/main" val="20003"/>
                    </a:ext>
                  </a:extLst>
                </a:gridCol>
              </a:tblGrid>
              <a:tr h="723900">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Partner team</a:t>
                      </a:r>
                      <a:endParaRPr/>
                    </a:p>
                  </a:txBody>
                  <a:tcPr marL="91450" marR="91450" marT="45725" marB="45725" anchor="ctr">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Partner team provides</a:t>
                      </a:r>
                      <a:endParaRPr/>
                    </a:p>
                  </a:txBody>
                  <a:tcPr marL="91450" marR="91450" marT="45725" marB="45725" anchor="ctr">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Our team provides</a:t>
                      </a:r>
                      <a:endParaRPr/>
                    </a:p>
                  </a:txBody>
                  <a:tcPr marL="91450" marR="91450" marT="45725" marB="45725" anchor="ctr">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Proposed camera view</a:t>
                      </a:r>
                      <a:endParaRPr/>
                    </a:p>
                  </a:txBody>
                  <a:tcPr marL="91450" marR="91450" marT="45725" marB="45725" anchor="ctr">
                    <a:lnB w="9525" cap="flat" cmpd="sng">
                      <a:solidFill>
                        <a:srgbClr val="434343"/>
                      </a:solidFill>
                      <a:prstDash val="solid"/>
                      <a:round/>
                      <a:headEnd type="none" w="sm" len="sm"/>
                      <a:tailEnd type="none" w="sm" len="sm"/>
                    </a:lnB>
                  </a:tcPr>
                </a:tc>
                <a:extLst>
                  <a:ext uri="{0D108BD9-81ED-4DB2-BD59-A6C34878D82A}">
                    <a16:rowId xmlns:a16="http://schemas.microsoft.com/office/drawing/2014/main" val="10000"/>
                  </a:ext>
                </a:extLst>
              </a:tr>
              <a:tr h="1543050">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P1</a:t>
                      </a:r>
                      <a:endParaRPr/>
                    </a:p>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Enclosure</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Confirm dimensions, layout, access points, mounts and cable routes. Map blind spots together.</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Movement paths and spatial heatmaps.</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Top view of the main activity area. Add an angled view where obstructed.</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extLst>
                  <a:ext uri="{0D108BD9-81ED-4DB2-BD59-A6C34878D82A}">
                    <a16:rowId xmlns:a16="http://schemas.microsoft.com/office/drawing/2014/main" val="10001"/>
                  </a:ext>
                </a:extLst>
              </a:tr>
              <a:tr h="1543050">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P3</a:t>
                      </a:r>
                      <a:endParaRPr/>
                    </a:p>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Hide</a:t>
                      </a:r>
                      <a:endParaRPr/>
                    </a:p>
                  </a:txBody>
                  <a:tcPr marL="91450" marR="91450" marT="45725" marB="45725" anchor="ctr">
                    <a:lnT w="9525" cap="flat" cmpd="sng">
                      <a:solidFill>
                        <a:srgbClr val="434343"/>
                      </a:solidFill>
                      <a:prstDash val="solid"/>
                      <a:round/>
                      <a:headEnd type="none" w="sm" len="sm"/>
                      <a:tailEnd type="none" w="sm" len="sm"/>
                    </a:lnT>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All entrances, internal structure, temperature, humidity and existing occupancy signals.</a:t>
                      </a:r>
                      <a:endParaRPr/>
                    </a:p>
                  </a:txBody>
                  <a:tcPr marL="91450" marR="91450" marT="45725" marB="45725" anchor="ctr">
                    <a:lnT w="9525" cap="flat" cmpd="sng">
                      <a:solidFill>
                        <a:srgbClr val="434343"/>
                      </a:solidFill>
                      <a:prstDash val="solid"/>
                      <a:round/>
                      <a:headEnd type="none" w="sm" len="sm"/>
                      <a:tailEnd type="none" w="sm" len="sm"/>
                    </a:lnT>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Entry and exit counts and dwell times.</a:t>
                      </a:r>
                      <a:endParaRPr/>
                    </a:p>
                  </a:txBody>
                  <a:tcPr marL="91450" marR="91450" marT="45725" marB="45725" anchor="ctr">
                    <a:lnT w="9525" cap="flat" cmpd="sng">
                      <a:solidFill>
                        <a:srgbClr val="434343"/>
                      </a:solidFill>
                      <a:prstDash val="solid"/>
                      <a:round/>
                      <a:headEnd type="none" w="sm" len="sm"/>
                      <a:tailEnd type="none" w="sm" len="sm"/>
                    </a:lnT>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Angled view of entrances, covering thresholds and entry / exit paths.</a:t>
                      </a:r>
                      <a:endParaRPr/>
                    </a:p>
                  </a:txBody>
                  <a:tcPr marL="91450" marR="91450" marT="45725" marB="45725" anchor="ctr">
                    <a:lnT w="9525" cap="flat" cmpd="sng">
                      <a:solidFill>
                        <a:srgbClr val="434343"/>
                      </a:solidFill>
                      <a:prstDash val="solid"/>
                      <a:round/>
                      <a:headEnd type="none" w="sm" len="sm"/>
                      <a:tailEnd type="none" w="sm" len="sm"/>
                    </a:lnT>
                  </a:tcPr>
                </a:tc>
                <a:extLst>
                  <a:ext uri="{0D108BD9-81ED-4DB2-BD59-A6C34878D82A}">
                    <a16:rowId xmlns:a16="http://schemas.microsoft.com/office/drawing/2014/main" val="10002"/>
                  </a:ext>
                </a:extLst>
              </a:tr>
            </a:tbl>
          </a:graphicData>
        </a:graphic>
      </p:graphicFrame>
      <p:sp>
        <p:nvSpPr>
          <p:cNvPr id="236" name="Google Shape;236;p20"/>
          <p:cNvSpPr/>
          <p:nvPr/>
        </p:nvSpPr>
        <p:spPr>
          <a:xfrm>
            <a:off x="609600" y="6134100"/>
            <a:ext cx="10382250" cy="2857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350" b="0" i="0" u="none" strike="noStrike" cap="none">
                <a:solidFill>
                  <a:srgbClr val="A7B9BD"/>
                </a:solidFill>
                <a:latin typeface="Arial"/>
                <a:ea typeface="Arial"/>
                <a:cs typeface="Arial"/>
                <a:sym typeface="Arial"/>
              </a:rPr>
              <a:t>P = Project number. Camera views are proposals for testing and may be shared.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41"/>
        <p:cNvGrpSpPr/>
        <p:nvPr/>
      </p:nvGrpSpPr>
      <p:grpSpPr>
        <a:xfrm>
          <a:off x="0" y="0"/>
          <a:ext cx="0" cy="0"/>
          <a:chOff x="0" y="0"/>
          <a:chExt cx="0" cy="0"/>
        </a:xfrm>
      </p:grpSpPr>
      <p:sp>
        <p:nvSpPr>
          <p:cNvPr id="242" name="Google Shape;242;p21"/>
          <p:cNvSpPr/>
          <p:nvPr/>
        </p:nvSpPr>
        <p:spPr>
          <a:xfrm>
            <a:off x="609600" y="342900"/>
            <a:ext cx="104775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200" b="1" i="0" u="none" strike="noStrike" cap="none">
                <a:solidFill>
                  <a:srgbClr val="60DDE5"/>
                </a:solidFill>
                <a:latin typeface="Arial"/>
                <a:ea typeface="Arial"/>
                <a:cs typeface="Arial"/>
                <a:sym typeface="Arial"/>
              </a:rPr>
              <a:t>C  CROSS-TEAM COLLABORATION</a:t>
            </a:r>
            <a:endParaRPr/>
          </a:p>
        </p:txBody>
      </p:sp>
      <p:sp>
        <p:nvSpPr>
          <p:cNvPr id="243" name="Google Shape;243;p21"/>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3450" b="1" i="0" u="none" strike="noStrike" cap="none">
                <a:solidFill>
                  <a:srgbClr val="F5F8F7"/>
                </a:solidFill>
                <a:latin typeface="Arial"/>
                <a:ea typeface="Arial"/>
                <a:cs typeface="Arial"/>
                <a:sym typeface="Arial"/>
              </a:rPr>
              <a:t>Team inputs and outputs</a:t>
            </a:r>
            <a:r>
              <a:rPr lang="en-US" sz="3450" b="1">
                <a:solidFill>
                  <a:srgbClr val="F5F8F7"/>
                </a:solidFill>
              </a:rPr>
              <a:t> | 2 / 3</a:t>
            </a:r>
            <a:endParaRPr b="1">
              <a:solidFill>
                <a:schemeClr val="dk1"/>
              </a:solidFill>
            </a:endParaRPr>
          </a:p>
          <a:p>
            <a:pPr marL="0" marR="0" lvl="0" indent="0" algn="l" rtl="0">
              <a:lnSpc>
                <a:spcPct val="115000"/>
              </a:lnSpc>
              <a:spcBef>
                <a:spcPts val="0"/>
              </a:spcBef>
              <a:spcAft>
                <a:spcPts val="0"/>
              </a:spcAft>
              <a:buNone/>
            </a:pPr>
            <a:endParaRPr sz="3450" b="1">
              <a:solidFill>
                <a:srgbClr val="F5F8F7"/>
              </a:solidFill>
            </a:endParaRPr>
          </a:p>
        </p:txBody>
      </p:sp>
      <p:sp>
        <p:nvSpPr>
          <p:cNvPr id="244" name="Google Shape;244;p21"/>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18</a:t>
            </a:r>
            <a:endParaRPr/>
          </a:p>
        </p:txBody>
      </p:sp>
      <p:graphicFrame>
        <p:nvGraphicFramePr>
          <p:cNvPr id="245" name="Google Shape;245;p21"/>
          <p:cNvGraphicFramePr/>
          <p:nvPr/>
        </p:nvGraphicFramePr>
        <p:xfrm>
          <a:off x="609600" y="1875340"/>
          <a:ext cx="10972800" cy="3810000"/>
        </p:xfrm>
        <a:graphic>
          <a:graphicData uri="http://schemas.openxmlformats.org/drawingml/2006/table">
            <a:tbl>
              <a:tblPr>
                <a:noFill/>
                <a:tableStyleId>{5703555B-6AFD-4B4B-9EC0-19226ED46D85}</a:tableStyleId>
              </a:tblPr>
              <a:tblGrid>
                <a:gridCol w="1790700">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3133725">
                  <a:extLst>
                    <a:ext uri="{9D8B030D-6E8A-4147-A177-3AD203B41FA5}">
                      <a16:colId xmlns:a16="http://schemas.microsoft.com/office/drawing/2014/main" val="20003"/>
                    </a:ext>
                  </a:extLst>
                </a:gridCol>
              </a:tblGrid>
              <a:tr h="723900">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Partner team</a:t>
                      </a:r>
                      <a:endParaRPr/>
                    </a:p>
                  </a:txBody>
                  <a:tcPr marL="91450" marR="91450" marT="45725" marB="45725" anchor="ctr">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Partner team provides</a:t>
                      </a:r>
                      <a:endParaRPr/>
                    </a:p>
                  </a:txBody>
                  <a:tcPr marL="91450" marR="91450" marT="45725" marB="45725" anchor="ctr">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Our team provides</a:t>
                      </a:r>
                      <a:endParaRPr/>
                    </a:p>
                  </a:txBody>
                  <a:tcPr marL="91450" marR="91450" marT="45725" marB="45725" anchor="ctr">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Proposed camera view</a:t>
                      </a:r>
                      <a:endParaRPr/>
                    </a:p>
                  </a:txBody>
                  <a:tcPr marL="91450" marR="91450" marT="45725" marB="45725" anchor="ctr">
                    <a:lnB w="9525" cap="flat" cmpd="sng">
                      <a:solidFill>
                        <a:srgbClr val="434343"/>
                      </a:solidFill>
                      <a:prstDash val="solid"/>
                      <a:round/>
                      <a:headEnd type="none" w="sm" len="sm"/>
                      <a:tailEnd type="none" w="sm" len="sm"/>
                    </a:lnB>
                  </a:tcPr>
                </a:tc>
                <a:extLst>
                  <a:ext uri="{0D108BD9-81ED-4DB2-BD59-A6C34878D82A}">
                    <a16:rowId xmlns:a16="http://schemas.microsoft.com/office/drawing/2014/main" val="10000"/>
                  </a:ext>
                </a:extLst>
              </a:tr>
              <a:tr h="1543050">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P4</a:t>
                      </a:r>
                      <a:endParaRPr/>
                    </a:p>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Basking / heating</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Upper and lower structures, heat-source positions, on / off logs and measured temperatures.</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Dwell records for each level.</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Top view of the slate. Check whether the lower entrance is visible.</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extLst>
                  <a:ext uri="{0D108BD9-81ED-4DB2-BD59-A6C34878D82A}">
                    <a16:rowId xmlns:a16="http://schemas.microsoft.com/office/drawing/2014/main" val="10001"/>
                  </a:ext>
                </a:extLst>
              </a:tr>
              <a:tr h="1543050">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P5</a:t>
                      </a:r>
                      <a:endParaRPr/>
                    </a:p>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Water / humidity</a:t>
                      </a:r>
                      <a:endParaRPr/>
                    </a:p>
                  </a:txBody>
                  <a:tcPr marL="91450" marR="91450" marT="45725" marB="45725" anchor="ctr">
                    <a:lnT w="9525" cap="flat" cmpd="sng">
                      <a:solidFill>
                        <a:srgbClr val="434343"/>
                      </a:solidFill>
                      <a:prstDash val="solid"/>
                      <a:round/>
                      <a:headEnd type="none" w="sm" len="sm"/>
                      <a:tailEnd type="none" w="sm" len="sm"/>
                    </a:lnT>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Bowl position, temperature and humidity sampling points, refill and humidification logs.</a:t>
                      </a:r>
                      <a:endParaRPr/>
                    </a:p>
                  </a:txBody>
                  <a:tcPr marL="91450" marR="91450" marT="45725" marB="45725" anchor="ctr">
                    <a:lnT w="9525" cap="flat" cmpd="sng">
                      <a:solidFill>
                        <a:srgbClr val="434343"/>
                      </a:solidFill>
                      <a:prstDash val="solid"/>
                      <a:round/>
                      <a:headEnd type="none" w="sm" len="sm"/>
                      <a:tailEnd type="none" w="sm" len="sm"/>
                    </a:lnT>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Visits and candidate drinking clips.</a:t>
                      </a:r>
                      <a:endParaRPr/>
                    </a:p>
                  </a:txBody>
                  <a:tcPr marL="91450" marR="91450" marT="45725" marB="45725" anchor="ctr">
                    <a:lnT w="9525" cap="flat" cmpd="sng">
                      <a:solidFill>
                        <a:srgbClr val="434343"/>
                      </a:solidFill>
                      <a:prstDash val="solid"/>
                      <a:round/>
                      <a:headEnd type="none" w="sm" len="sm"/>
                      <a:tailEnd type="none" w="sm" len="sm"/>
                    </a:lnT>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View from above and to the side, keeping the mouth visible above the bowl rim.</a:t>
                      </a:r>
                      <a:endParaRPr/>
                    </a:p>
                  </a:txBody>
                  <a:tcPr marL="91450" marR="91450" marT="45725" marB="45725" anchor="ctr">
                    <a:lnT w="9525" cap="flat" cmpd="sng">
                      <a:solidFill>
                        <a:srgbClr val="434343"/>
                      </a:solidFill>
                      <a:prstDash val="solid"/>
                      <a:round/>
                      <a:headEnd type="none" w="sm" len="sm"/>
                      <a:tailEnd type="none" w="sm" len="sm"/>
                    </a:lnT>
                  </a:tcPr>
                </a:tc>
                <a:extLst>
                  <a:ext uri="{0D108BD9-81ED-4DB2-BD59-A6C34878D82A}">
                    <a16:rowId xmlns:a16="http://schemas.microsoft.com/office/drawing/2014/main" val="10002"/>
                  </a:ext>
                </a:extLst>
              </a:tr>
            </a:tbl>
          </a:graphicData>
        </a:graphic>
      </p:graphicFrame>
      <p:sp>
        <p:nvSpPr>
          <p:cNvPr id="246" name="Google Shape;246;p21"/>
          <p:cNvSpPr/>
          <p:nvPr/>
        </p:nvSpPr>
        <p:spPr>
          <a:xfrm>
            <a:off x="609600" y="6134100"/>
            <a:ext cx="10382250" cy="2857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350" b="0" i="0" u="none" strike="noStrike" cap="none">
                <a:solidFill>
                  <a:srgbClr val="A7B9BD"/>
                </a:solidFill>
                <a:latin typeface="Arial"/>
                <a:ea typeface="Arial"/>
                <a:cs typeface="Arial"/>
                <a:sym typeface="Arial"/>
              </a:rPr>
              <a:t>P = Project number. Camera views are proposals for testing and may be shared.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51"/>
        <p:cNvGrpSpPr/>
        <p:nvPr/>
      </p:nvGrpSpPr>
      <p:grpSpPr>
        <a:xfrm>
          <a:off x="0" y="0"/>
          <a:ext cx="0" cy="0"/>
          <a:chOff x="0" y="0"/>
          <a:chExt cx="0" cy="0"/>
        </a:xfrm>
      </p:grpSpPr>
      <p:sp>
        <p:nvSpPr>
          <p:cNvPr id="252" name="Google Shape;252;p22"/>
          <p:cNvSpPr/>
          <p:nvPr/>
        </p:nvSpPr>
        <p:spPr>
          <a:xfrm>
            <a:off x="609600" y="342900"/>
            <a:ext cx="104775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200" b="1" i="0" u="none" strike="noStrike" cap="none">
                <a:solidFill>
                  <a:srgbClr val="60DDE5"/>
                </a:solidFill>
                <a:latin typeface="Arial"/>
                <a:ea typeface="Arial"/>
                <a:cs typeface="Arial"/>
                <a:sym typeface="Arial"/>
              </a:rPr>
              <a:t>C  CROSS-TEAM COLLABORATION</a:t>
            </a:r>
            <a:endParaRPr/>
          </a:p>
        </p:txBody>
      </p:sp>
      <p:sp>
        <p:nvSpPr>
          <p:cNvPr id="253" name="Google Shape;253;p22"/>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3450" b="1" i="0" u="none" strike="noStrike" cap="none">
                <a:solidFill>
                  <a:srgbClr val="F5F8F7"/>
                </a:solidFill>
                <a:latin typeface="Arial"/>
                <a:ea typeface="Arial"/>
                <a:cs typeface="Arial"/>
                <a:sym typeface="Arial"/>
              </a:rPr>
              <a:t>Team inputs and outputs</a:t>
            </a:r>
            <a:r>
              <a:rPr lang="en-US" sz="3450" b="1">
                <a:solidFill>
                  <a:srgbClr val="F5F8F7"/>
                </a:solidFill>
              </a:rPr>
              <a:t> | 3 / 3</a:t>
            </a:r>
            <a:endParaRPr b="1">
              <a:solidFill>
                <a:schemeClr val="dk1"/>
              </a:solidFill>
            </a:endParaRPr>
          </a:p>
          <a:p>
            <a:pPr marL="0" marR="0" lvl="0" indent="0" algn="l" rtl="0">
              <a:lnSpc>
                <a:spcPct val="115000"/>
              </a:lnSpc>
              <a:spcBef>
                <a:spcPts val="0"/>
              </a:spcBef>
              <a:spcAft>
                <a:spcPts val="0"/>
              </a:spcAft>
              <a:buNone/>
            </a:pPr>
            <a:endParaRPr sz="3450" b="1">
              <a:solidFill>
                <a:srgbClr val="F5F8F7"/>
              </a:solidFill>
            </a:endParaRPr>
          </a:p>
        </p:txBody>
      </p:sp>
      <p:sp>
        <p:nvSpPr>
          <p:cNvPr id="254" name="Google Shape;254;p22"/>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19</a:t>
            </a:r>
            <a:endParaRPr/>
          </a:p>
        </p:txBody>
      </p:sp>
      <p:graphicFrame>
        <p:nvGraphicFramePr>
          <p:cNvPr id="255" name="Google Shape;255;p22"/>
          <p:cNvGraphicFramePr/>
          <p:nvPr/>
        </p:nvGraphicFramePr>
        <p:xfrm>
          <a:off x="609600" y="1875340"/>
          <a:ext cx="10972800" cy="3810000"/>
        </p:xfrm>
        <a:graphic>
          <a:graphicData uri="http://schemas.openxmlformats.org/drawingml/2006/table">
            <a:tbl>
              <a:tblPr>
                <a:noFill/>
                <a:tableStyleId>{5703555B-6AFD-4B4B-9EC0-19226ED46D85}</a:tableStyleId>
              </a:tblPr>
              <a:tblGrid>
                <a:gridCol w="1790700">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3133725">
                  <a:extLst>
                    <a:ext uri="{9D8B030D-6E8A-4147-A177-3AD203B41FA5}">
                      <a16:colId xmlns:a16="http://schemas.microsoft.com/office/drawing/2014/main" val="20003"/>
                    </a:ext>
                  </a:extLst>
                </a:gridCol>
              </a:tblGrid>
              <a:tr h="723900">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Partner team</a:t>
                      </a:r>
                      <a:endParaRPr/>
                    </a:p>
                  </a:txBody>
                  <a:tcPr marL="91450" marR="91450" marT="45725" marB="45725" anchor="ctr">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Partner team provides</a:t>
                      </a:r>
                      <a:endParaRPr/>
                    </a:p>
                  </a:txBody>
                  <a:tcPr marL="91450" marR="91450" marT="45725" marB="45725" anchor="ctr">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Our team provides</a:t>
                      </a:r>
                      <a:endParaRPr/>
                    </a:p>
                  </a:txBody>
                  <a:tcPr marL="91450" marR="91450" marT="45725" marB="45725" anchor="ctr">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Proposed camera view</a:t>
                      </a:r>
                      <a:endParaRPr/>
                    </a:p>
                  </a:txBody>
                  <a:tcPr marL="91450" marR="91450" marT="45725" marB="45725" anchor="ctr">
                    <a:lnB w="9525" cap="flat" cmpd="sng">
                      <a:solidFill>
                        <a:srgbClr val="434343"/>
                      </a:solidFill>
                      <a:prstDash val="solid"/>
                      <a:round/>
                      <a:headEnd type="none" w="sm" len="sm"/>
                      <a:tailEnd type="none" w="sm" len="sm"/>
                    </a:lnB>
                  </a:tcPr>
                </a:tc>
                <a:extLst>
                  <a:ext uri="{0D108BD9-81ED-4DB2-BD59-A6C34878D82A}">
                    <a16:rowId xmlns:a16="http://schemas.microsoft.com/office/drawing/2014/main" val="10000"/>
                  </a:ext>
                </a:extLst>
              </a:tr>
              <a:tr h="1543050">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P6 &amp; P7</a:t>
                      </a:r>
                      <a:endParaRPr/>
                    </a:p>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Environment / defecation</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Confirm responsibilities first. Provide defecation areas, substrate, cleaning and lighting logs.</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Before / after comparisons and event replay.</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Fixed top view of the target substrate area.</a:t>
                      </a:r>
                      <a:endParaRPr/>
                    </a:p>
                  </a:txBody>
                  <a:tcPr marL="91450" marR="91450" marT="45725" marB="45725" anchor="ctr">
                    <a:lnT w="9525" cap="flat" cmpd="sng">
                      <a:solidFill>
                        <a:srgbClr val="434343"/>
                      </a:solidFill>
                      <a:prstDash val="solid"/>
                      <a:round/>
                      <a:headEnd type="none" w="sm" len="sm"/>
                      <a:tailEnd type="none" w="sm" len="sm"/>
                    </a:lnT>
                    <a:lnB w="9525" cap="flat" cmpd="sng">
                      <a:solidFill>
                        <a:srgbClr val="434343"/>
                      </a:solidFill>
                      <a:prstDash val="solid"/>
                      <a:round/>
                      <a:headEnd type="none" w="sm" len="sm"/>
                      <a:tailEnd type="none" w="sm" len="sm"/>
                    </a:lnB>
                  </a:tcPr>
                </a:tc>
                <a:extLst>
                  <a:ext uri="{0D108BD9-81ED-4DB2-BD59-A6C34878D82A}">
                    <a16:rowId xmlns:a16="http://schemas.microsoft.com/office/drawing/2014/main" val="10001"/>
                  </a:ext>
                </a:extLst>
              </a:tr>
              <a:tr h="1543050">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P9</a:t>
                      </a:r>
                      <a:endParaRPr/>
                    </a:p>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Feeding</a:t>
                      </a:r>
                      <a:endParaRPr/>
                    </a:p>
                  </a:txBody>
                  <a:tcPr marL="91450" marR="91450" marT="45725" marB="45725" anchor="ctr">
                    <a:lnT w="9525" cap="flat" cmpd="sng">
                      <a:solidFill>
                        <a:srgbClr val="434343"/>
                      </a:solidFill>
                      <a:prstDash val="solid"/>
                      <a:round/>
                      <a:headEnd type="none" w="sm" len="sm"/>
                      <a:tailEnd type="none" w="sm" len="sm"/>
                    </a:lnT>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Confirm responsibility for actual feeding. Provide feeding-area structure, feeding times and quantities.</a:t>
                      </a:r>
                      <a:endParaRPr/>
                    </a:p>
                  </a:txBody>
                  <a:tcPr marL="91450" marR="91450" marT="45725" marB="45725" anchor="ctr">
                    <a:lnT w="9525" cap="flat" cmpd="sng">
                      <a:solidFill>
                        <a:srgbClr val="434343"/>
                      </a:solidFill>
                      <a:prstDash val="solid"/>
                      <a:round/>
                      <a:headEnd type="none" w="sm" len="sm"/>
                      <a:tailEnd type="none" w="sm" len="sm"/>
                    </a:lnT>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Prey-capture clips and feeding clips confirmed by review.</a:t>
                      </a:r>
                      <a:endParaRPr/>
                    </a:p>
                  </a:txBody>
                  <a:tcPr marL="91450" marR="91450" marT="45725" marB="45725" anchor="ctr">
                    <a:lnT w="9525" cap="flat" cmpd="sng">
                      <a:solidFill>
                        <a:srgbClr val="434343"/>
                      </a:solidFill>
                      <a:prstDash val="solid"/>
                      <a:round/>
                      <a:headEnd type="none" w="sm" len="sm"/>
                      <a:tailEnd type="none" w="sm" len="sm"/>
                    </a:lnT>
                  </a:tcPr>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Close angled top view covering food, mouth and approach paths.</a:t>
                      </a:r>
                      <a:endParaRPr/>
                    </a:p>
                  </a:txBody>
                  <a:tcPr marL="91450" marR="91450" marT="45725" marB="45725" anchor="ctr">
                    <a:lnT w="9525" cap="flat" cmpd="sng">
                      <a:solidFill>
                        <a:srgbClr val="434343"/>
                      </a:solidFill>
                      <a:prstDash val="solid"/>
                      <a:round/>
                      <a:headEnd type="none" w="sm" len="sm"/>
                      <a:tailEnd type="none" w="sm" len="sm"/>
                    </a:lnT>
                  </a:tcPr>
                </a:tc>
                <a:extLst>
                  <a:ext uri="{0D108BD9-81ED-4DB2-BD59-A6C34878D82A}">
                    <a16:rowId xmlns:a16="http://schemas.microsoft.com/office/drawing/2014/main" val="10002"/>
                  </a:ext>
                </a:extLst>
              </a:tr>
            </a:tbl>
          </a:graphicData>
        </a:graphic>
      </p:graphicFrame>
      <p:sp>
        <p:nvSpPr>
          <p:cNvPr id="256" name="Google Shape;256;p22"/>
          <p:cNvSpPr/>
          <p:nvPr/>
        </p:nvSpPr>
        <p:spPr>
          <a:xfrm>
            <a:off x="609600" y="6134100"/>
            <a:ext cx="10382250" cy="2857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350" b="0" i="0" u="none" strike="noStrike" cap="none">
                <a:solidFill>
                  <a:srgbClr val="A7B9BD"/>
                </a:solidFill>
                <a:latin typeface="Arial"/>
                <a:ea typeface="Arial"/>
                <a:cs typeface="Arial"/>
                <a:sym typeface="Arial"/>
              </a:rPr>
              <a:t>P = Project number. Camera views are proposals for testing and may be shared.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61"/>
        <p:cNvGrpSpPr/>
        <p:nvPr/>
      </p:nvGrpSpPr>
      <p:grpSpPr>
        <a:xfrm>
          <a:off x="0" y="0"/>
          <a:ext cx="0" cy="0"/>
          <a:chOff x="0" y="0"/>
          <a:chExt cx="0" cy="0"/>
        </a:xfrm>
      </p:grpSpPr>
      <p:sp>
        <p:nvSpPr>
          <p:cNvPr id="262" name="Google Shape;262;p23"/>
          <p:cNvSpPr/>
          <p:nvPr/>
        </p:nvSpPr>
        <p:spPr>
          <a:xfrm>
            <a:off x="609600" y="342900"/>
            <a:ext cx="104775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200" b="1" i="0" u="none" strike="noStrike" cap="none">
                <a:solidFill>
                  <a:srgbClr val="60DDE5"/>
                </a:solidFill>
                <a:latin typeface="Arial"/>
                <a:ea typeface="Arial"/>
                <a:cs typeface="Arial"/>
                <a:sym typeface="Arial"/>
              </a:rPr>
              <a:t>C  CROSS-TEAM COLLABORATION</a:t>
            </a:r>
            <a:endParaRPr/>
          </a:p>
        </p:txBody>
      </p:sp>
      <p:sp>
        <p:nvSpPr>
          <p:cNvPr id="263" name="Google Shape;263;p23"/>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3450" b="1" i="0" u="none" strike="noStrike" cap="none">
                <a:solidFill>
                  <a:srgbClr val="F5F8F7"/>
                </a:solidFill>
                <a:latin typeface="Arial"/>
                <a:ea typeface="Arial"/>
                <a:cs typeface="Arial"/>
                <a:sym typeface="Arial"/>
              </a:rPr>
              <a:t>Collaboration process</a:t>
            </a:r>
            <a:endParaRPr/>
          </a:p>
        </p:txBody>
      </p:sp>
      <p:sp>
        <p:nvSpPr>
          <p:cNvPr id="264" name="Google Shape;264;p23"/>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20</a:t>
            </a:r>
            <a:endParaRPr/>
          </a:p>
        </p:txBody>
      </p:sp>
      <p:graphicFrame>
        <p:nvGraphicFramePr>
          <p:cNvPr id="265" name="Google Shape;265;p23"/>
          <p:cNvGraphicFramePr/>
          <p:nvPr/>
        </p:nvGraphicFramePr>
        <p:xfrm>
          <a:off x="609600" y="1985420"/>
          <a:ext cx="10972800" cy="3810000"/>
        </p:xfrm>
        <a:graphic>
          <a:graphicData uri="http://schemas.openxmlformats.org/drawingml/2006/table">
            <a:tbl>
              <a:tblPr>
                <a:noFill/>
                <a:tableStyleId>{5703555B-6AFD-4B4B-9EC0-19226ED46D85}</a:tableStyleId>
              </a:tblPr>
              <a:tblGrid>
                <a:gridCol w="2762250">
                  <a:extLst>
                    <a:ext uri="{9D8B030D-6E8A-4147-A177-3AD203B41FA5}">
                      <a16:colId xmlns:a16="http://schemas.microsoft.com/office/drawing/2014/main" val="20000"/>
                    </a:ext>
                  </a:extLst>
                </a:gridCol>
                <a:gridCol w="8210550">
                  <a:extLst>
                    <a:ext uri="{9D8B030D-6E8A-4147-A177-3AD203B41FA5}">
                      <a16:colId xmlns:a16="http://schemas.microsoft.com/office/drawing/2014/main" val="20001"/>
                    </a:ext>
                  </a:extLst>
                </a:gridCol>
              </a:tblGrid>
              <a:tr h="723900">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Stage</a:t>
                      </a:r>
                      <a:endParaRPr/>
                    </a:p>
                  </a:txBody>
                  <a:tcPr marL="91450" marR="91450" marT="45725" marB="45725"/>
                </a:tc>
                <a:tc>
                  <a:txBody>
                    <a:bodyPr/>
                    <a:lstStyle/>
                    <a:p>
                      <a:pPr marL="0" marR="0" lvl="0" indent="0" algn="l" rtl="0">
                        <a:lnSpc>
                          <a:spcPct val="115000"/>
                        </a:lnSpc>
                        <a:spcBef>
                          <a:spcPts val="0"/>
                        </a:spcBef>
                        <a:spcAft>
                          <a:spcPts val="0"/>
                        </a:spcAft>
                        <a:buNone/>
                      </a:pPr>
                      <a:r>
                        <a:rPr lang="en-US" sz="1650" b="1" u="none" strike="noStrike" cap="none">
                          <a:solidFill>
                            <a:srgbClr val="C6F36B"/>
                          </a:solidFill>
                          <a:latin typeface="Arial"/>
                          <a:ea typeface="Arial"/>
                          <a:cs typeface="Arial"/>
                          <a:sym typeface="Arial"/>
                        </a:rPr>
                        <a:t>Joint action</a:t>
                      </a:r>
                      <a:endParaRPr/>
                    </a:p>
                  </a:txBody>
                  <a:tcPr marL="91450" marR="91450" marT="45725" marB="45725"/>
                </a:tc>
                <a:extLst>
                  <a:ext uri="{0D108BD9-81ED-4DB2-BD59-A6C34878D82A}">
                    <a16:rowId xmlns:a16="http://schemas.microsoft.com/office/drawing/2014/main" val="10000"/>
                  </a:ext>
                </a:extLst>
              </a:tr>
              <a:tr h="771525">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01  Requirements</a:t>
                      </a:r>
                      <a:endParaRPr/>
                    </a:p>
                  </a:txBody>
                  <a:tcPr marL="91450" marR="91450" marT="45725" marB="45725"/>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Each team names one contact and selects the 1–2 most important observation events.</a:t>
                      </a:r>
                      <a:endParaRPr/>
                    </a:p>
                  </a:txBody>
                  <a:tcPr marL="91450" marR="91450" marT="45725" marB="45725"/>
                </a:tc>
                <a:extLst>
                  <a:ext uri="{0D108BD9-81ED-4DB2-BD59-A6C34878D82A}">
                    <a16:rowId xmlns:a16="http://schemas.microsoft.com/office/drawing/2014/main" val="10001"/>
                  </a:ext>
                </a:extLst>
              </a:tr>
              <a:tr h="771525">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02  Layout</a:t>
                      </a:r>
                      <a:endParaRPr/>
                    </a:p>
                  </a:txBody>
                  <a:tcPr marL="91450" marR="91450" marT="45725" marB="45725"/>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Combine camera views and cable routes with P1. Identify blind spots and removable parts for cleaning.</a:t>
                      </a:r>
                      <a:endParaRPr/>
                    </a:p>
                  </a:txBody>
                  <a:tcPr marL="91450" marR="91450" marT="45725" marB="45725"/>
                </a:tc>
                <a:extLst>
                  <a:ext uri="{0D108BD9-81ED-4DB2-BD59-A6C34878D82A}">
                    <a16:rowId xmlns:a16="http://schemas.microsoft.com/office/drawing/2014/main" val="10002"/>
                  </a:ext>
                </a:extLst>
              </a:tr>
              <a:tr h="771525">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03  Joint trial</a:t>
                      </a:r>
                      <a:endParaRPr/>
                    </a:p>
                  </a:txBody>
                  <a:tcPr marL="91450" marR="91450" marT="45725" marB="45725"/>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Each team selects one event. Manually compare video with sensor records and correct occlusion or misclassification.</a:t>
                      </a:r>
                      <a:endParaRPr/>
                    </a:p>
                  </a:txBody>
                  <a:tcPr marL="91450" marR="91450" marT="45725" marB="45725"/>
                </a:tc>
                <a:extLst>
                  <a:ext uri="{0D108BD9-81ED-4DB2-BD59-A6C34878D82A}">
                    <a16:rowId xmlns:a16="http://schemas.microsoft.com/office/drawing/2014/main" val="10003"/>
                  </a:ext>
                </a:extLst>
              </a:tr>
              <a:tr h="771525">
                <a:tc>
                  <a:txBody>
                    <a:bodyPr/>
                    <a:lstStyle/>
                    <a:p>
                      <a:pPr marL="0" marR="0" lvl="0" indent="0" algn="l" rtl="0">
                        <a:lnSpc>
                          <a:spcPct val="115000"/>
                        </a:lnSpc>
                        <a:spcBef>
                          <a:spcPts val="0"/>
                        </a:spcBef>
                        <a:spcAft>
                          <a:spcPts val="0"/>
                        </a:spcAft>
                        <a:buNone/>
                      </a:pPr>
                      <a:r>
                        <a:rPr lang="en-US" sz="1725" b="1" u="none" strike="noStrike" cap="none">
                          <a:solidFill>
                            <a:srgbClr val="F5F8F7"/>
                          </a:solidFill>
                          <a:latin typeface="Arial"/>
                          <a:ea typeface="Arial"/>
                          <a:cs typeface="Arial"/>
                          <a:sym typeface="Arial"/>
                        </a:rPr>
                        <a:t>04  Integration</a:t>
                      </a:r>
                      <a:endParaRPr/>
                    </a:p>
                  </a:txBody>
                  <a:tcPr marL="91450" marR="91450" marT="45725" marB="45725"/>
                </a:tc>
                <a:tc>
                  <a:txBody>
                    <a:bodyPr/>
                    <a:lstStyle/>
                    <a:p>
                      <a:pPr marL="0" marR="0" lvl="0" indent="0" algn="l" rtl="0">
                        <a:lnSpc>
                          <a:spcPct val="115000"/>
                        </a:lnSpc>
                        <a:spcBef>
                          <a:spcPts val="0"/>
                        </a:spcBef>
                        <a:spcAft>
                          <a:spcPts val="0"/>
                        </a:spcAft>
                        <a:buNone/>
                      </a:pPr>
                      <a:r>
                        <a:rPr lang="en-US" sz="1725" b="0" u="none" strike="noStrike" cap="none">
                          <a:solidFill>
                            <a:srgbClr val="F5F8F7"/>
                          </a:solidFill>
                          <a:latin typeface="Arial"/>
                          <a:ea typeface="Arial"/>
                          <a:cs typeface="Arial"/>
                          <a:sym typeface="Arial"/>
                        </a:rPr>
                        <a:t>Standardize timestamps and region / individual IDs. Deliver heatmaps, activity distributions and event replay.</a:t>
                      </a:r>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70"/>
        <p:cNvGrpSpPr/>
        <p:nvPr/>
      </p:nvGrpSpPr>
      <p:grpSpPr>
        <a:xfrm>
          <a:off x="0" y="0"/>
          <a:ext cx="0" cy="0"/>
          <a:chOff x="0" y="0"/>
          <a:chExt cx="0" cy="0"/>
        </a:xfrm>
      </p:grpSpPr>
      <p:sp>
        <p:nvSpPr>
          <p:cNvPr id="271" name="Google Shape;271;p24"/>
          <p:cNvSpPr/>
          <p:nvPr/>
        </p:nvSpPr>
        <p:spPr>
          <a:xfrm>
            <a:off x="609600" y="342900"/>
            <a:ext cx="10477500" cy="266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200" b="1" i="0" u="none" strike="noStrike" cap="none">
                <a:solidFill>
                  <a:srgbClr val="60DDE5"/>
                </a:solidFill>
                <a:latin typeface="Arial"/>
                <a:ea typeface="Arial"/>
                <a:cs typeface="Arial"/>
                <a:sym typeface="Arial"/>
              </a:rPr>
              <a:t>C  CROSS-TEAM COLLABORATION</a:t>
            </a:r>
            <a:endParaRPr/>
          </a:p>
        </p:txBody>
      </p:sp>
      <p:sp>
        <p:nvSpPr>
          <p:cNvPr id="272" name="Google Shape;272;p24"/>
          <p:cNvSpPr/>
          <p:nvPr/>
        </p:nvSpPr>
        <p:spPr>
          <a:xfrm>
            <a:off x="609600" y="828675"/>
            <a:ext cx="10906125" cy="95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3450" b="1" i="0" u="none" strike="noStrike" cap="none">
                <a:solidFill>
                  <a:srgbClr val="F5F8F7"/>
                </a:solidFill>
                <a:latin typeface="Arial"/>
                <a:ea typeface="Arial"/>
                <a:cs typeface="Arial"/>
                <a:sym typeface="Arial"/>
              </a:rPr>
              <a:t>Shared agreements</a:t>
            </a:r>
            <a:endParaRPr/>
          </a:p>
        </p:txBody>
      </p:sp>
      <p:sp>
        <p:nvSpPr>
          <p:cNvPr id="273" name="Google Shape;273;p24"/>
          <p:cNvSpPr/>
          <p:nvPr/>
        </p:nvSpPr>
        <p:spPr>
          <a:xfrm>
            <a:off x="11163300" y="6381750"/>
            <a:ext cx="476250" cy="238125"/>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125" b="0" i="0" u="none" strike="noStrike" cap="none">
                <a:solidFill>
                  <a:srgbClr val="A7B9BD"/>
                </a:solidFill>
                <a:latin typeface="Arial"/>
                <a:ea typeface="Arial"/>
                <a:cs typeface="Arial"/>
                <a:sym typeface="Arial"/>
              </a:rPr>
              <a:t>21</a:t>
            </a:r>
            <a:endParaRPr/>
          </a:p>
        </p:txBody>
      </p:sp>
      <p:sp>
        <p:nvSpPr>
          <p:cNvPr id="274" name="Google Shape;274;p24"/>
          <p:cNvSpPr/>
          <p:nvPr/>
        </p:nvSpPr>
        <p:spPr>
          <a:xfrm>
            <a:off x="609600" y="1981200"/>
            <a:ext cx="3000375" cy="7620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950" b="1" i="0" u="none" strike="noStrike" cap="none">
                <a:solidFill>
                  <a:srgbClr val="C6F36B"/>
                </a:solidFill>
                <a:latin typeface="Arial"/>
                <a:ea typeface="Arial"/>
                <a:cs typeface="Arial"/>
                <a:sym typeface="Arial"/>
              </a:rPr>
              <a:t>Responsibilities</a:t>
            </a:r>
            <a:endParaRPr/>
          </a:p>
        </p:txBody>
      </p:sp>
      <p:sp>
        <p:nvSpPr>
          <p:cNvPr id="275" name="Google Shape;275;p24"/>
          <p:cNvSpPr/>
          <p:nvPr/>
        </p:nvSpPr>
        <p:spPr>
          <a:xfrm>
            <a:off x="3943350" y="1981200"/>
            <a:ext cx="7562850" cy="8953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800" b="0" i="0" u="none" strike="noStrike" cap="none">
                <a:solidFill>
                  <a:srgbClr val="F5F8F7"/>
                </a:solidFill>
                <a:latin typeface="Arial"/>
                <a:ea typeface="Arial"/>
                <a:cs typeface="Arial"/>
                <a:sym typeface="Arial"/>
              </a:rPr>
              <a:t>Functional teams own module data. Our team integrates video and activity timing. Confirm event labels together.</a:t>
            </a:r>
            <a:endParaRPr/>
          </a:p>
        </p:txBody>
      </p:sp>
      <p:sp>
        <p:nvSpPr>
          <p:cNvPr id="276" name="Google Shape;276;p24"/>
          <p:cNvSpPr/>
          <p:nvPr/>
        </p:nvSpPr>
        <p:spPr>
          <a:xfrm>
            <a:off x="609600" y="3019425"/>
            <a:ext cx="3000375" cy="7620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950" b="1" i="0" u="none" strike="noStrike" cap="none">
                <a:solidFill>
                  <a:srgbClr val="C6F36B"/>
                </a:solidFill>
                <a:latin typeface="Arial"/>
                <a:ea typeface="Arial"/>
                <a:cs typeface="Arial"/>
                <a:sym typeface="Arial"/>
              </a:rPr>
              <a:t>Record quality</a:t>
            </a:r>
            <a:endParaRPr/>
          </a:p>
        </p:txBody>
      </p:sp>
      <p:sp>
        <p:nvSpPr>
          <p:cNvPr id="277" name="Google Shape;277;p24"/>
          <p:cNvSpPr/>
          <p:nvPr/>
        </p:nvSpPr>
        <p:spPr>
          <a:xfrm>
            <a:off x="3943350" y="3019425"/>
            <a:ext cx="7562850" cy="8953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800" b="0" i="0" u="none" strike="noStrike" cap="none">
                <a:solidFill>
                  <a:srgbClr val="F5F8F7"/>
                </a:solidFill>
                <a:latin typeface="Arial"/>
                <a:ea typeface="Arial"/>
                <a:cs typeface="Arial"/>
                <a:sym typeface="Arial"/>
              </a:rPr>
              <a:t>Log invisible periods and stream interruptions. Confirm drinking and feeding through review.</a:t>
            </a:r>
            <a:endParaRPr/>
          </a:p>
        </p:txBody>
      </p:sp>
      <p:sp>
        <p:nvSpPr>
          <p:cNvPr id="278" name="Google Shape;278;p24"/>
          <p:cNvSpPr/>
          <p:nvPr/>
        </p:nvSpPr>
        <p:spPr>
          <a:xfrm>
            <a:off x="609600" y="4057650"/>
            <a:ext cx="3000375" cy="7620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950" b="1" i="0" u="none" strike="noStrike" cap="none">
                <a:solidFill>
                  <a:srgbClr val="C6F36B"/>
                </a:solidFill>
                <a:latin typeface="Arial"/>
                <a:ea typeface="Arial"/>
                <a:cs typeface="Arial"/>
                <a:sym typeface="Arial"/>
              </a:rPr>
              <a:t>Layout and thermal views</a:t>
            </a:r>
            <a:endParaRPr/>
          </a:p>
        </p:txBody>
      </p:sp>
      <p:sp>
        <p:nvSpPr>
          <p:cNvPr id="279" name="Google Shape;279;p24"/>
          <p:cNvSpPr/>
          <p:nvPr/>
        </p:nvSpPr>
        <p:spPr>
          <a:xfrm>
            <a:off x="3943350" y="4057650"/>
            <a:ext cx="7562850" cy="8953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800" b="0" i="0" u="none" strike="noStrike" cap="none">
                <a:solidFill>
                  <a:srgbClr val="F5F8F7"/>
                </a:solidFill>
                <a:latin typeface="Arial"/>
                <a:ea typeface="Arial"/>
                <a:cs typeface="Arial"/>
                <a:sym typeface="Arial"/>
              </a:rPr>
              <a:t>Update the layout after moving modules or cameras. If thermal arrays are used, give them a direct view without ordinary glass in between.</a:t>
            </a:r>
            <a:endParaRPr/>
          </a:p>
        </p:txBody>
      </p:sp>
      <p:sp>
        <p:nvSpPr>
          <p:cNvPr id="280" name="Google Shape;280;p24"/>
          <p:cNvSpPr/>
          <p:nvPr/>
        </p:nvSpPr>
        <p:spPr>
          <a:xfrm>
            <a:off x="609600" y="5095875"/>
            <a:ext cx="3000375" cy="7620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950" b="1" i="0" u="none" strike="noStrike" cap="none">
                <a:solidFill>
                  <a:srgbClr val="C6F36B"/>
                </a:solidFill>
                <a:latin typeface="Arial"/>
                <a:ea typeface="Arial"/>
                <a:cs typeface="Arial"/>
                <a:sym typeface="Arial"/>
              </a:rPr>
              <a:t>Coordination to confirm</a:t>
            </a:r>
            <a:endParaRPr/>
          </a:p>
        </p:txBody>
      </p:sp>
      <p:sp>
        <p:nvSpPr>
          <p:cNvPr id="281" name="Google Shape;281;p24"/>
          <p:cNvSpPr/>
          <p:nvPr/>
        </p:nvSpPr>
        <p:spPr>
          <a:xfrm>
            <a:off x="3943350" y="5095875"/>
            <a:ext cx="7562850" cy="89535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1800" b="0" i="0" u="none" strike="noStrike" cap="none">
                <a:solidFill>
                  <a:srgbClr val="F5F8F7"/>
                </a:solidFill>
                <a:latin typeface="Arial"/>
                <a:ea typeface="Arial"/>
                <a:cs typeface="Arial"/>
                <a:sym typeface="Arial"/>
              </a:rPr>
              <a:t>Assign responsibility for app and algorithm integration.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80D10"/>
        </a:solidFill>
        <a:effectLst/>
      </p:bgPr>
    </p:bg>
    <p:spTree>
      <p:nvGrpSpPr>
        <p:cNvPr id="1" name="Shape 286"/>
        <p:cNvGrpSpPr/>
        <p:nvPr/>
      </p:nvGrpSpPr>
      <p:grpSpPr>
        <a:xfrm>
          <a:off x="0" y="0"/>
          <a:ext cx="0" cy="0"/>
          <a:chOff x="0" y="0"/>
          <a:chExt cx="0" cy="0"/>
        </a:xfrm>
      </p:grpSpPr>
      <p:pic>
        <p:nvPicPr>
          <p:cNvPr id="287" name="Google Shape;287;g40a2810a138_5_8" title="Picture ppt.png"/>
          <p:cNvPicPr preferRelativeResize="0"/>
          <p:nvPr/>
        </p:nvPicPr>
        <p:blipFill rotWithShape="1">
          <a:blip r:embed="rId3">
            <a:alphaModFix/>
          </a:blip>
          <a:srcRect r="13890"/>
          <a:stretch/>
        </p:blipFill>
        <p:spPr>
          <a:xfrm>
            <a:off x="1693625" y="0"/>
            <a:ext cx="10498374" cy="6858000"/>
          </a:xfrm>
          <a:prstGeom prst="rect">
            <a:avLst/>
          </a:prstGeom>
          <a:noFill/>
          <a:ln>
            <a:noFill/>
          </a:ln>
        </p:spPr>
      </p:pic>
      <p:sp>
        <p:nvSpPr>
          <p:cNvPr id="288" name="Google Shape;288;g40a2810a138_5_8"/>
          <p:cNvSpPr/>
          <p:nvPr/>
        </p:nvSpPr>
        <p:spPr>
          <a:xfrm>
            <a:off x="609600" y="533400"/>
            <a:ext cx="5715000" cy="6819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425"/>
              <a:buFont typeface="Arial"/>
              <a:buNone/>
            </a:pPr>
            <a:r>
              <a:rPr lang="en-US" sz="1425" b="1" i="0" u="none" strike="noStrike" cap="none">
                <a:solidFill>
                  <a:srgbClr val="60DDE5"/>
                </a:solidFill>
                <a:latin typeface="Arial"/>
                <a:ea typeface="Arial"/>
                <a:cs typeface="Arial"/>
                <a:sym typeface="Arial"/>
              </a:rPr>
              <a:t>SD5531   /   TEAM 2  </a:t>
            </a:r>
            <a:endParaRPr sz="1425" b="1" i="0" u="none" strike="noStrike" cap="none">
              <a:solidFill>
                <a:srgbClr val="60DDE5"/>
              </a:solidFill>
              <a:latin typeface="Arial"/>
              <a:ea typeface="Arial"/>
              <a:cs typeface="Arial"/>
              <a:sym typeface="Arial"/>
            </a:endParaRPr>
          </a:p>
          <a:p>
            <a:pPr marL="0" lvl="0" indent="0" algn="l" rtl="0">
              <a:lnSpc>
                <a:spcPct val="115000"/>
              </a:lnSpc>
              <a:spcBef>
                <a:spcPts val="0"/>
              </a:spcBef>
              <a:spcAft>
                <a:spcPts val="0"/>
              </a:spcAft>
              <a:buClr>
                <a:schemeClr val="dk1"/>
              </a:buClr>
              <a:buSzPts val="1425"/>
              <a:buFont typeface="Arial"/>
              <a:buNone/>
            </a:pPr>
            <a:r>
              <a:rPr lang="en-US" sz="1425">
                <a:solidFill>
                  <a:schemeClr val="lt1"/>
                </a:solidFill>
              </a:rPr>
              <a:t>Yichen Zhang | Kecheng Zhu | Haolin Yang | James Eric Liu</a:t>
            </a:r>
            <a:endParaRPr sz="1400" b="0" i="0" u="none" strike="noStrike" cap="none">
              <a:solidFill>
                <a:schemeClr val="lt1"/>
              </a:solidFill>
              <a:latin typeface="Arial"/>
              <a:ea typeface="Arial"/>
              <a:cs typeface="Arial"/>
              <a:sym typeface="Arial"/>
            </a:endParaRPr>
          </a:p>
        </p:txBody>
      </p:sp>
      <p:sp>
        <p:nvSpPr>
          <p:cNvPr id="289" name="Google Shape;289;g40a2810a138_5_8"/>
          <p:cNvSpPr/>
          <p:nvPr/>
        </p:nvSpPr>
        <p:spPr>
          <a:xfrm>
            <a:off x="5927750" y="0"/>
            <a:ext cx="4237525" cy="4264700"/>
          </a:xfrm>
          <a:prstGeom prst="flowChartProcess">
            <a:avLst/>
          </a:prstGeom>
          <a:solidFill>
            <a:srgbClr val="C6F36B">
              <a:alpha val="27059"/>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g40a2810a138_5_8"/>
          <p:cNvSpPr/>
          <p:nvPr/>
        </p:nvSpPr>
        <p:spPr>
          <a:xfrm>
            <a:off x="10165275" y="4264700"/>
            <a:ext cx="2026725" cy="2593300"/>
          </a:xfrm>
          <a:prstGeom prst="flowChartProcess">
            <a:avLst/>
          </a:prstGeom>
          <a:solidFill>
            <a:srgbClr val="C6F36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g40a2810a138_5_8"/>
          <p:cNvSpPr/>
          <p:nvPr/>
        </p:nvSpPr>
        <p:spPr>
          <a:xfrm>
            <a:off x="4917400" y="4264700"/>
            <a:ext cx="5247900" cy="2593200"/>
          </a:xfrm>
          <a:prstGeom prst="rect">
            <a:avLst/>
          </a:prstGeom>
          <a:solidFill>
            <a:srgbClr val="04080A">
              <a:alpha val="7647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g40a2810a138_5_8"/>
          <p:cNvSpPr/>
          <p:nvPr/>
        </p:nvSpPr>
        <p:spPr>
          <a:xfrm>
            <a:off x="609600" y="2990523"/>
            <a:ext cx="9281400" cy="2667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0"/>
              <a:buFont typeface="Arial"/>
              <a:buNone/>
            </a:pPr>
            <a:r>
              <a:rPr lang="en-US" sz="10000" b="1" i="0" u="none" strike="noStrike" cap="none">
                <a:solidFill>
                  <a:srgbClr val="FFFFFF"/>
                </a:solidFill>
                <a:latin typeface="Arial"/>
                <a:ea typeface="Arial"/>
                <a:cs typeface="Arial"/>
                <a:sym typeface="Arial"/>
              </a:rPr>
              <a:t>THANK YOU</a:t>
            </a:r>
            <a:endParaRPr sz="10000" b="1" i="0" u="none" strike="noStrike" cap="none">
              <a:solidFill>
                <a:srgbClr val="FFFFFF"/>
              </a:solidFill>
              <a:latin typeface="Arial"/>
              <a:ea typeface="Arial"/>
              <a:cs typeface="Arial"/>
              <a:sym typeface="Arial"/>
            </a:endParaRPr>
          </a:p>
        </p:txBody>
      </p:sp>
      <p:sp>
        <p:nvSpPr>
          <p:cNvPr id="293" name="Google Shape;293;g40a2810a138_5_8"/>
          <p:cNvSpPr/>
          <p:nvPr/>
        </p:nvSpPr>
        <p:spPr>
          <a:xfrm>
            <a:off x="5927750" y="0"/>
            <a:ext cx="681900" cy="681900"/>
          </a:xfrm>
          <a:prstGeom prst="halfFrame">
            <a:avLst>
              <a:gd name="adj1" fmla="val 33333"/>
              <a:gd name="adj2" fmla="val 33333"/>
            </a:avLst>
          </a:prstGeom>
          <a:solidFill>
            <a:srgbClr val="C6F36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g40a2810a138_5_8"/>
          <p:cNvSpPr/>
          <p:nvPr/>
        </p:nvSpPr>
        <p:spPr>
          <a:xfrm rot="10800000">
            <a:off x="9483375" y="3582800"/>
            <a:ext cx="681900" cy="681900"/>
          </a:xfrm>
          <a:prstGeom prst="halfFrame">
            <a:avLst>
              <a:gd name="adj1" fmla="val 33333"/>
              <a:gd name="adj2" fmla="val 33333"/>
            </a:avLst>
          </a:prstGeom>
          <a:solidFill>
            <a:srgbClr val="C6F36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2137</Words>
  <Application>Microsoft Macintosh PowerPoint</Application>
  <PresentationFormat>宽屏</PresentationFormat>
  <Paragraphs>228</Paragraphs>
  <Slides>27</Slides>
  <Notes>27</Notes>
  <HiddenSlides>1</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27</vt:i4>
      </vt:variant>
    </vt:vector>
  </HeadingPairs>
  <TitlesOfParts>
    <vt:vector size="29" baseType="lpstr">
      <vt:lpstr>Arial</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Kecheng Zhu</cp:lastModifiedBy>
  <cp:revision>4</cp:revision>
  <dcterms:modified xsi:type="dcterms:W3CDTF">2026-09-25T06:56:51Z</dcterms:modified>
</cp:coreProperties>
</file>